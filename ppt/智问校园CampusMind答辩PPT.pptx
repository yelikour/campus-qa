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</c:v>
                </c:pt>
              </c:strCache>
            </c:strRef>
          </c:tx>
          <c:spPr>
            <a:solidFill>
              <a:srgbClr val="A8B5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C23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BM25-only</c:v>
                  </c:pt>
                  <c:pt idx="1">
                    <c:v>Vector(TF-IDF)</c:v>
                  </c:pt>
                  <c:pt idx="2">
                    <c:v>Hybrid+RRF(默认)</c:v>
                  </c:pt>
                  <c:pt idx="3">
                    <c:v>Hybrid+Rerank(开关)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80.6</c:v>
                </c:pt>
                <c:pt idx="1">
                  <c:v>75.8</c:v>
                </c:pt>
                <c:pt idx="2">
                  <c:v>80.6</c:v>
                </c:pt>
                <c:pt idx="3">
                  <c:v>74.2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Hit@3</c:v>
                </c:pt>
              </c:strCache>
            </c:strRef>
          </c:tx>
          <c:spPr>
            <a:solidFill>
              <a:srgbClr val="3B5B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C23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BM25-only</c:v>
                  </c:pt>
                  <c:pt idx="1">
                    <c:v>Vector(TF-IDF)</c:v>
                  </c:pt>
                  <c:pt idx="2">
                    <c:v>Hybrid+RRF(默认)</c:v>
                  </c:pt>
                  <c:pt idx="3">
                    <c:v>Hybrid+Rerank(开关)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98.4</c:v>
                </c:pt>
                <c:pt idx="1">
                  <c:v>93.5</c:v>
                </c:pt>
                <c:pt idx="2">
                  <c:v>98.4</c:v>
                </c:pt>
                <c:pt idx="3">
                  <c:v>90.3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C2333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A739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A739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A7390"/>
                    </a:solidFill>
                    <a:latin typeface="Arial"/>
                  </a:rPr>
                  <a:t>命中率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A7390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A7390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开场:大家好,我们的课程项目是智问校园——一个基于AI+RAG的校园智能问答系统。先看44秒演示再展开讲架构。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五个环节:背景需求、架构设计、实现验证、经济适用型、演进总结。经济适用型回答三个问题:系统怎么卖、真实成本多少、怎么扛并发。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痛点:分散、低效、无溯源。校园信息对准确性要求高,纯大模型会幻觉,所以选RAG。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质量属性场景六元组:每个属性有场景、目标、落点。约束:短工期、零预算、可溯源。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五层架构:每层职责清晰;质量属性可定位到层:性能→引擎层,可修改性→数据层,扩展性→无状态应用层。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时序的两个关键设计:①检索完成先推meta事件让前端先看到正在参考哪些资料;②生成完成才落库。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混合检索三段式:两路并行召回→RRF融合→重排精选。双模生成:本地抽取式保降级,云端GLM保效果。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六项ADR都有备选方案和否决理由,体现架构合理性与权衡。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选型原则:演示零依赖可离线跑,但每个选择都预留了接口不变的升级路径。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演示两个画面:聊天流式回答+引用卡片;运行看板。录屏里还有知识库管理和热更新环节。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热更新闭环:录入到可被检索不需要重启服务,这是可修改性场景的直接验证。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四路评测:BM25最强。调优修复三缺陷后生产链路提升到87%以上0近水平。实证结论诚实呈现。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性能拆分:检索217QPS远超目标;E2E含生成42QPS。吞吐下降的原因如实说明。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四项验收全部PASS。追踪链从需求到证据全链条可追溯，脚本可复现。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三道防线:限流防流量,降级防故障,溯源拗幻觉。无Key环境下系统仍完整服务就是降级路径的活证明。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每一步替换(SQLite→PG、内存索引→Milvus、本地→GLM、代理→Redis)都是一个可单独评分的架构决策。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售卖模式三档:SaaS订阅、私有化买断、免费社区版。强调:定价是商业假设示例,真实依据是下一页的成本账单——默认链路无GPU无强制API费,边际成本近零。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三种方案的月账单:云端SaaS约15-35元/月,私有化复用已有虚机边际为0,全离线GPU约1000-1500元/月。每问API成本给出敏感性:免费期0元,收费假设下日均5000问约195元/月。价格均为2026-10活动价,如实标注。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高并发三件事:容量外推(44QPS单实例对校园场景余量10倍)、扩展三级(workers→反代多实例→Redis外置)、反代要点(SSE直通proxy_buffering off最关键)。收在成本可预测性:扩容单位是30元/月的机器,线性扩容。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8周五阶段:原型→检索落地→前端+插件化→调优文档→答辩。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四个创新点收尾,预留提问时间。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-2194560"/>
            <a:ext cx="8229600" cy="10972800"/>
          </a:xfrm>
          <a:prstGeom prst="rect">
            <a:avLst/>
          </a:prstGeom>
          <a:solidFill>
            <a:srgbClr val="232B5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6949440" y="-2194560"/>
            <a:ext cx="8229600" cy="10972800"/>
          </a:xfrm>
          <a:prstGeom prst="rect">
            <a:avLst/>
          </a:prstGeom>
          <a:solidFill>
            <a:srgbClr val="3B5BFD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212080" y="658368"/>
            <a:ext cx="1737360" cy="1737360"/>
          </a:xfrm>
          <a:prstGeom prst="roundRect">
            <a:avLst>
              <a:gd name="adj" fmla="val 16842"/>
            </a:avLst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212080" y="658368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097280" y="265176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智问校园 CampusMind</a:t>
            </a:r>
            <a:endParaRPr lang="en-US" sz="5100" dirty="0"/>
          </a:p>
        </p:txBody>
      </p:sp>
      <p:sp>
        <p:nvSpPr>
          <p:cNvPr id="7" name="Text 5"/>
          <p:cNvSpPr/>
          <p:nvPr/>
        </p:nvSpPr>
        <p:spPr>
          <a:xfrm>
            <a:off x="1097280" y="3639312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AI + RAG 的校园智能问答系统 · 软件体系结构课程答辩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063240" y="4370832"/>
            <a:ext cx="2816352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4389120"/>
            <a:ext cx="2816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混合检索 BM25 ∥ 向量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4370832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43891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RRF 融合 + 重排序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2320" y="4370832"/>
            <a:ext cx="1773936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0" y="4389120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流式生成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41080" y="4370832"/>
            <a:ext cx="1078992" cy="365760"/>
          </a:xfrm>
          <a:prstGeom prst="roundRect">
            <a:avLst>
              <a:gd name="adj" fmla="val 50000"/>
            </a:avLst>
          </a:prstGeom>
          <a:solidFill>
            <a:srgbClr val="232B52"/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0" y="4389120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引用溯源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562356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B97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汇报人：王若璋（组长/架构） · 何俐 · 郭祚梁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B97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 18 日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汇报提纲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从问题到架构再到验证与经济性，五个环节展开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118311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38988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874520" y="13898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背景与需求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74520" y="1792224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痛点调研 · 质量属性场景 · 约束条件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1118311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3774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874520" y="237744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架构设计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2779776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五层分层 · RAG 核心链路 · 6 项关键决策 ADR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273552"/>
            <a:ext cx="1118311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336499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874520" y="336499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实现与验证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874520" y="3767328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可运行系统 · 检索评测 · 性能压测 · 演示录屏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261104"/>
            <a:ext cx="1118311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5254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874520" y="435254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经济适用型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874520" y="4754880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售卖模式 · 部署与调用成本核算 · 高并发与反向代理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5248656"/>
            <a:ext cx="1118311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534009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874520" y="534009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演进与总结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874520" y="574243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单机→生产演进 · 8 周计划 · 创新点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背景：校园咨询的三个痛点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调研结论驱动选题：高频、分散、无口径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分散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规章分属不同部门网站，学生难以定位信息来源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选课/奖助/宿舍/就业 各自为政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低效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人工咨询受工作时间限制，晚间与假期无法响应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99432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99432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辅导员下班后无人回应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47304" y="141732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21624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无溯源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21624" y="221284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同一问题不同渠道答案不一，缺乏权威口径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21624" y="318211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1F3F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31958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网络回答无来源标注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069080"/>
            <a:ext cx="11183112" cy="2148840"/>
          </a:xfrm>
          <a:prstGeom prst="roundRect">
            <a:avLst>
              <a:gd name="adj" fmla="val 3830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4315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选题思路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470916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AI + RAG？</a:t>
            </a:r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大模型直接回答会幻觉，而校园信息要求准确可溯源。RAG 先检索再生成，把知识库作为回答的唯一事实来源。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需求分析：六元组质量属性场景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每个质量属性都有可验证的量化目标，并映射到架构层次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937760"/>
                <a:gridCol w="3291840"/>
                <a:gridCol w="15087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属性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关键场景（刺激源 → 响应）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量化目标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落点层次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奖助申报季并发 5 倍峰值，响应不阪塔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首字 &lt; 1s · 检索 P95 &lt; 50ms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RAG 引擎层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云端 LLM 超时/故障时自动降级继续服务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降级零人工 · 可用性 ≥ 99.5%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生成 Provider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可修改性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知识新增/修正后新知识立即生效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索引热更新 &lt; 5s 无需重启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摄取+索引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可扩展性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用户增长靠加副本而非重构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应用无状态 · N 副本负载均衡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应用服务层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单用户高频请求不拖垮服务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令牌桶 5 QPS/用户 · 超限 429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网关边界层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48640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约束条件：8 周工期 · 3 人团队 · 零预算演示 · 回答必须可溯源不编造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总体架构：五层分层 + 模块化单体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 → 网关边界 → 应用服务 → RAG 引擎 → 数据；模块间仅接口依赖，预留服务化边界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298448"/>
            <a:ext cx="90525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核心链路：检索 → 融合 → 重排 → 流式生成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事件流：meta（先推引用来源）→ delta（token 流）→ done（落库）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sequ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71600"/>
            <a:ext cx="1046988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混合检索：为什么要两条通道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 BM25 不懂同义改写，向量通道现为 TF-IDF 词袋（离线如实标注），云端语义向量 Provider 已实现待接入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171C36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学生提问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96265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「饭卡找不到了」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1517904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稀疏通道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514600" y="20116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7E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关键词精确匹配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4600" y="3419856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7C4DFF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14600" y="352958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TF-IDF 向量通道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514600" y="39136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7E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离线词袋 · 可插拔语义向量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232B52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RRF 融合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983480" y="29626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按排名融合 k=60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2468880"/>
            <a:ext cx="1874520" cy="969264"/>
          </a:xfrm>
          <a:prstGeom prst="roundRect">
            <a:avLst>
              <a:gd name="adj" fmla="val 8491"/>
            </a:avLst>
          </a:prstGeom>
          <a:solidFill>
            <a:srgbClr val="FF8A3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257860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重排序(可选开关)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0" y="29626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3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默认关闭 RERANK_ENABLED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77440" y="2953512"/>
            <a:ext cx="137160" cy="-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377440" y="2953512"/>
            <a:ext cx="137160" cy="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389120" y="2002536"/>
            <a:ext cx="594360" cy="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389120" y="3904488"/>
            <a:ext cx="594360" cy="-950976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858000" y="2953512"/>
            <a:ext cx="0" cy="0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464040" y="2212848"/>
            <a:ext cx="2240280" cy="1463040"/>
          </a:xfrm>
          <a:prstGeom prst="roundRect">
            <a:avLst>
              <a:gd name="adj" fmla="val 6250"/>
            </a:avLst>
          </a:prstGeom>
          <a:solidFill>
            <a:srgbClr val="E9EDFF"/>
          </a:solidFill>
          <a:ln w="12700">
            <a:solidFill>
              <a:srgbClr val="3B5BF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64040" y="23591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Provider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464040" y="27432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本地抽取式 ∥ 云端 GLM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插件化双模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故障自动降级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732520" y="2953512"/>
            <a:ext cx="731520" cy="0"/>
          </a:xfrm>
          <a:prstGeom prst="line">
            <a:avLst/>
          </a:prstGeom>
          <a:noFill/>
          <a:ln w="25400">
            <a:solidFill>
              <a:srgbClr val="6A739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02920" y="4892040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22960" y="50749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可观察性设计：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调试接口与前端引用卡片同步暴露双通道排名与融合分数 —— 检索过程可解释、可课件化、可调参（如右图：BM25#1 · VEC#1 · 85%）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关键架构决策（ADR 摘要）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每个决策都有被否决的备选方案与理由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ADR-1 模块化单体起步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58952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否决微服务全家桶（8 周工期不容许）与纯分层（拆分代价高），保留服务化边界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ADR-2 混合检索默认 RRF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81144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否决单一通道；重排实测无收益降为开关；向量现态 TF-IDF（ADR-7）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7304" y="146304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03336" y="16642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ADR-3 SSE 承载流式回答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03336" y="23774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 WebSocket：单向推送场景更轻量、对网关友好；WS 留待后续双向场景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8952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ADR-4 生成 Provider 插件化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8952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否决强依赖云端 LLM：演示可离线跑，云端故障自动降级不中断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5112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81144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ADR-5 内存索引+热重建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81144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否决每请求重建索引；万级 chunk 内存足够，超出再迁向量库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47304" y="3794760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03336" y="39959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ADR-6 令牌桶入口限流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403336" y="470916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演示代砆无统一身份；协议兼容，生产换 Redis 滑动窗口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技术选型：关键维度对比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选型依据：工期约束 · 离线可跑 · 接口不变的演进能力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2834640"/>
                <a:gridCol w="365760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备选方案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决定性理由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Web 框架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FastAPI + 原生 JS SPA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Django / Spring Cloud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SSE/async 原生支持，零构建前端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检索架构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自实现 BM25+TF-IDF 向量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Elasticsearch / Milvus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零依赖演示；接口已预留升级位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接入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智谱 GLM(openai 兼容)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自部开源模型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标准协议可平滑替换供应商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业务存储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SQLite(WAL)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PostgreSQL / MySQL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单文件备份；仓储层接口不变直接平移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流式协议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WebSocket / 轮询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单向推送足够，网关友好且实现简单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Embedding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TF-IDF 离线 + 云端 Provider 已实现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本地深度模型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 Key 如实回退 TF-IDF；配 Key 即切语义向量，接口不变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82296" marR="82296" marT="82296" marB="82296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系统演示：流式回答与运行看板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实机截图 —— 完整演示见 60 秒录屏 video/demo_frontend_v2.webm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672084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6" name="Image 0" descr="/Users/yaya/SHU/2601/软件体系结构/campus-qa/video/frames/f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527048"/>
            <a:ext cx="6501384" cy="34381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461772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631436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流式回答 + 引用溯源卡片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543800" y="1417320"/>
            <a:ext cx="411480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10" name="Image 1" descr="/Users/yaya/SHU/2601/软件体系结构/campus-qa/video/frames/f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528" y="1527048"/>
            <a:ext cx="3895344" cy="34381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0" y="461772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0" y="4631436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运行看板：命中率/时延/热点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7724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77724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知识命中率（演示会话）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16052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4.5ms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16052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新知识即时检索命中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543800" y="52578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v6</a:t>
            </a:r>
            <a:endParaRPr lang="en-US" sz="4400" dirty="0"/>
          </a:p>
        </p:txBody>
      </p:sp>
      <p:sp>
        <p:nvSpPr>
          <p:cNvPr id="18" name="Text 14"/>
          <p:cNvSpPr/>
          <p:nvPr/>
        </p:nvSpPr>
        <p:spPr>
          <a:xfrm>
            <a:off x="7543800" y="6062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索引版本(顶栏可见)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知识热更新闭环：录入即可答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录屏实况：新增「快递驿站取件」条目 → 索引热重建 → 立即命中回答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161288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录入新知识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-182880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管理端填写问法/答案/来源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47288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47288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105656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944368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索引热重建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61488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136 chunks · 版本递增 · 无需重启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91656" y="1600200"/>
            <a:ext cx="566928" cy="566928"/>
          </a:xfrm>
          <a:prstGeom prst="ellipse">
            <a:avLst/>
          </a:prstGeom>
          <a:solidFill>
            <a:srgbClr val="3B5BF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91656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050024" y="1883664"/>
            <a:ext cx="2212848" cy="0"/>
          </a:xfrm>
          <a:prstGeom prst="line">
            <a:avLst/>
          </a:prstGeom>
          <a:noFill/>
          <a:ln w="25400">
            <a:solidFill>
              <a:srgbClr val="E3E7F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888736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提问验证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705856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「快递驿站怎么取件」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36024" y="1600200"/>
            <a:ext cx="566928" cy="566928"/>
          </a:xfrm>
          <a:prstGeom prst="ellipse">
            <a:avLst/>
          </a:prstGeom>
          <a:solidFill>
            <a:srgbClr val="FF8A3D"/>
          </a:solidFill>
          <a:ln/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336024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833104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命中回答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50224" y="26974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BM25#1 · VEC#1 · 置信 100%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3566160"/>
            <a:ext cx="557784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25" name="Image 0" descr="/Users/yaya/SHU/2601/软件体系结构/campus-qa/video/frames/f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0"/>
            <a:ext cx="5394960" cy="246888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731520" y="5806440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20156"/>
            <a:ext cx="3840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录屏：管理端录入与提交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400800" y="3566160"/>
            <a:ext cx="525780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pic>
        <p:nvPicPr>
          <p:cNvPr id="29" name="Image 1" descr="/Users/yaya/SHU/2601/软件体系结构/campus-qa/video/frames/f5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657600"/>
            <a:ext cx="5074920" cy="246888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6629400" y="5806440"/>
            <a:ext cx="42062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31" name="Text 27"/>
          <p:cNvSpPr/>
          <p:nvPr/>
        </p:nvSpPr>
        <p:spPr>
          <a:xfrm>
            <a:off x="6629400" y="5820156"/>
            <a:ext cx="4206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录屏：新知识被立即检索回答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评测矩阵：62 条口语化改写 × 四条链路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评估单位为文档级；向量通道为 TF-IDF 词袋（非语义嵌入，如实标注）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6492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5961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数据源：scripts/eval_matrix.py，n=62，统一文档级去重口径，MRR：0.884 / 0.844 / 0.884 / 0.815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269480" y="1554480"/>
            <a:ext cx="43891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498080" y="1755648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调优过程修复三个真实缺陷：</a:t>
            </a:r>
            <a:endParaRPr lang="en-US" sz="1250" dirty="0"/>
          </a:p>
          <a:p>
            <a:pPr indent="0" marL="0">
              <a:lnSpc>
                <a:spcPct val="125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停用词表构造 bug（整串未 split）② RRF 候选池截断压缩文档多样性 ③ 缺文档级去重（引用卡片重复根因），统一口径后 RRF 实测 98.4%（旧口径 95.2% 存在重复占位失真）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657600"/>
            <a:ext cx="4389120" cy="1828800"/>
          </a:xfrm>
          <a:prstGeom prst="roundRect">
            <a:avLst>
              <a:gd name="adj" fmla="val 4500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0" y="3858768"/>
            <a:ext cx="3931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实证结论：</a:t>
            </a:r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对关键词密集型规章问题最好；TF-IDF 向量补充另一视角但未稳定超过 BM25；轻量 Reranker 实测无收益，默认关闭保持 Provider 化，待替换 Cross-Encoder 后再评估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性能基准：检索与全链路拆分实测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retrieval-only 进程内直调；local-extractive E2E 含检索+流式生成+落库（HTTP，并发 20）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371600"/>
                <a:gridCol w="1463040"/>
                <a:gridCol w="1463040"/>
                <a:gridCol w="1463040"/>
                <a:gridCol w="117043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QPS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p50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5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retrieval-only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251.4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7.0ms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7.2ms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local-extractive E2E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415.7ms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601.0ms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611.1ms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6868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251.4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68680" y="4599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retrieval-only 吞吐（QPS）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4910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p95 7.0ms，远优于 50ms 目标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537960" y="37947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44.1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537960" y="4599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E2E 吞吐（QPS，含生成）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37960" y="49103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p99 611ms，200/200 成功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5349240"/>
            <a:ext cx="11183112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550468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如实说明：</a:t>
            </a:r>
            <a:pPr indent="0" marL="0">
              <a:buNone/>
            </a:pPr>
            <a:r>
              <a:rPr lang="en-US" sz="12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历史对照：Rerank 默认时期 217.8 / 42.0 QPS，初版 67.8 QPS；默认切换至 RRF 后检索计算量下降，吞吐回升，数据如实呈现。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635508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数据源：scripts/bench.py（retrieval / e2e 两模式），2026-09-18 实测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追踪矩阵与四项架构验收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 → 质量属性 → ADR → 模块 → 测试 → 证据，全链条可追溯（见 docs/traceability.md）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1118311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1005840"/>
                <a:gridCol w="414223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A1 生成降级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云端 GLM 无效 Key → 流内回退本地抽取式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降级产出 139 字正解，服务不中断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A2 入口限流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单用户并发突发 15（桶容量 10）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200×10 + 429×5，超容请求被拒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A3 知识热更新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录入即检索，无需重启，验后清理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索引版本 1→2→3 递增，即时命中并正确回答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A4 无知识兑底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无相关知识时不编造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2B76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sources=0，返回引导性回退话术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 FR/NFR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441448" y="3977640"/>
            <a:ext cx="1828800" cy="658368"/>
          </a:xfrm>
          <a:prstGeom prst="chevron">
            <a:avLst/>
          </a:prstGeom>
          <a:solidFill>
            <a:srgbClr val="7C4DFF"/>
          </a:solidFill>
          <a:ln/>
        </p:spPr>
      </p:sp>
      <p:sp>
        <p:nvSpPr>
          <p:cNvPr id="9" name="Text 6"/>
          <p:cNvSpPr/>
          <p:nvPr/>
        </p:nvSpPr>
        <p:spPr>
          <a:xfrm>
            <a:off x="2551176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质量属性场景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79976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11" name="Text 8"/>
          <p:cNvSpPr/>
          <p:nvPr/>
        </p:nvSpPr>
        <p:spPr>
          <a:xfrm>
            <a:off x="4489704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 ×7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318504" y="3977640"/>
            <a:ext cx="1828800" cy="658368"/>
          </a:xfrm>
          <a:prstGeom prst="chevron">
            <a:avLst/>
          </a:prstGeom>
          <a:solidFill>
            <a:srgbClr val="7C4DFF"/>
          </a:solidFill>
          <a:ln/>
        </p:spPr>
      </p:sp>
      <p:sp>
        <p:nvSpPr>
          <p:cNvPr id="13" name="Text 10"/>
          <p:cNvSpPr/>
          <p:nvPr/>
        </p:nvSpPr>
        <p:spPr>
          <a:xfrm>
            <a:off x="6428232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实现模块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57032" y="3977640"/>
            <a:ext cx="1828800" cy="658368"/>
          </a:xfrm>
          <a:prstGeom prst="chevron">
            <a:avLst/>
          </a:prstGeom>
          <a:solidFill>
            <a:srgbClr val="3B5BFD"/>
          </a:solidFill>
          <a:ln/>
        </p:spPr>
      </p:sp>
      <p:sp>
        <p:nvSpPr>
          <p:cNvPr id="15" name="Text 12"/>
          <p:cNvSpPr/>
          <p:nvPr/>
        </p:nvSpPr>
        <p:spPr>
          <a:xfrm>
            <a:off x="8366760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测试/验收脚本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10195560" y="3977640"/>
            <a:ext cx="1828800" cy="658368"/>
          </a:xfrm>
          <a:prstGeom prst="chevron">
            <a:avLst/>
          </a:prstGeom>
          <a:solidFill>
            <a:srgbClr val="FF8A3D"/>
          </a:solidFill>
          <a:ln/>
        </p:spPr>
      </p:sp>
      <p:sp>
        <p:nvSpPr>
          <p:cNvPr id="17" name="Text 14"/>
          <p:cNvSpPr/>
          <p:nvPr/>
        </p:nvSpPr>
        <p:spPr>
          <a:xfrm>
            <a:off x="10305288" y="4005072"/>
            <a:ext cx="166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实测证据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493776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7240" y="512064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证据体系：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 条评测集（四路对比）、300+200 性能基准（含 p50/p95/p99）、四项验收 4/4 PASS、60 秒演示录屏 —— 全部由 scripts/ 下可复现脚本产出，任何结论可重跑验证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安全与稳定性：三道防线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限流拗流量 · 降级保可用 · 溯源拗幻觉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865376"/>
            <a:ext cx="603504" cy="603504"/>
          </a:xfrm>
          <a:prstGeom prst="ellipse">
            <a:avLst/>
          </a:prstGeom>
          <a:solidFill>
            <a:srgbClr val="3B5BFD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8653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91640" y="1664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令牌桶限流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13969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QPS/用户 · 突发 10，超限返回 429；Pydantic 强校验输入长度与内容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29800" y="1984248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1997964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演示代砆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054096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95528" y="3438144"/>
            <a:ext cx="603504" cy="6035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34381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32369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生成降级熔断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91640" y="3712464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 GLM 30s 超时；任何异常流内回退本地抽取式生成，服务不中断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29800" y="3557016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FF1E5"/>
          </a:solidFill>
          <a:ln/>
        </p:spPr>
      </p:sp>
      <p:sp>
        <p:nvSpPr>
          <p:cNvPr id="18" name="Text 16"/>
          <p:cNvSpPr/>
          <p:nvPr/>
        </p:nvSpPr>
        <p:spPr>
          <a:xfrm>
            <a:off x="9829800" y="3570732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检索永远可用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4626864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5528" y="5010912"/>
            <a:ext cx="603504" cy="603504"/>
          </a:xfrm>
          <a:prstGeom prst="ellipse">
            <a:avLst/>
          </a:prstGeom>
          <a:solidFill>
            <a:srgbClr val="7C4DFF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501091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91640" y="48097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引用溯源拗幻觉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691640" y="52852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回答强制标注来源与分类；无命中不编造，回退话术并引导换问法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829800" y="5129784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9EDFF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5143500"/>
            <a:ext cx="2148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提示「以官方通知为准」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部署演进：接口不变，组件可替换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单机演示 → 生产集群的平滑演进路径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100" dirty="0"/>
          </a:p>
        </p:txBody>
      </p:sp>
      <p:pic>
        <p:nvPicPr>
          <p:cNvPr id="5" name="Image 0" descr="/Users/yaya/SHU/2601/软件体系结构/campus-qa/docs/assets/arch_deplo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71600"/>
            <a:ext cx="106070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经济适用 Ⅰ：三种售卖模式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定价为商业假设示例（非承诺）· 底气来自近零边际成本的结构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1591056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SaaS 订阅（推荐起步）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58952" y="20299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¥4,999 /校/年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58952" y="2578608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我方托管：1 台轻量服务器 + 免费档模型；零运维、含升级与维保；按年续费，先试用后签约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37160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81144" y="1591056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私有化部署买断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81144" y="20299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¥29,999 买断 + 15%/年维保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81144" y="2578608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部署进校园内网，数据不出校；复用校内已有虚拟机；一次性实施 + 年度维保合同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7304" y="137160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03336" y="1591056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免费社区版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403336" y="20299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¥0（获客入口）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03336" y="2578608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本项目形态直接可用：本地抽取式生成零 API 成本；高校先零成本试用，再转付费版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315968"/>
            <a:ext cx="11183112" cy="1783080"/>
          </a:xfrm>
          <a:prstGeom prst="roundRect">
            <a:avLst>
              <a:gd name="adj" fmla="val 4615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5171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为什么敢定低价 —— 成本结构拆解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" y="4937760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默认链路 0 GPU、0 强制 API 费：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GLM-4-Flash 限时免费 + 本地抽取式兜底（无 Key 也完整服务）；单实例实测 44 QPS 足以承载全校日问量。边际成本近零 —— 低价仍可保毛利，这正是「经济适用型架构」的商业回报。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经济适用 Ⅱ：成本核算（月账单）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价格时点 2026-10 · 多为新用户活动价 · 以官方计费页为准（如实标注）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3383280"/>
                <a:gridCol w="14904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部署方案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月成本估算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云端 SaaS（我方托管）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轻量 2C4G：¥165–379/年 ≈ ¥14–32/月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GLM-4-Flash 限时免费 · embedding-3 重建 ≈¥0.01/次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¥15–35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私有化 CPU（校内已有虚机）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复用校内资源，边际成本 ¥0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客户自备 Key，或本地抽取式 ¥0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边际 ≈ ¥0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B5BF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全离线 GPU（数据最敏感）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RTX 4090 租用 ¥1,000–1,500/月，或买断 ¥15,000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本地量化模型（GLM/Qwen 7B AWQ · vLLM）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3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¥1,000–1,500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9776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4160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每问调用成本（敏感性测算）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45720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实测每问 ≈ 1.3k token（系统提示 60 字 + 3 段上下文 + 回答）。
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Flash 免费期：¥0/问；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若按 ¥1/百万 token 计费：每问 ¥0.0013 · 日均 5,000 问 ≈ ¥195/月。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09360" y="3977640"/>
            <a:ext cx="537667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 向量成本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83680" y="45720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 条知识全量重建 ≈ 2 万 token ≈ ¥0.01（embedding-3 约 0.5 元/百万 token 档）。
</a:t>
            </a:r>
            <a:pPr indent="0" marL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仅在知识库变更时发生，相对服务器租金可忽略不计。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经济适用 Ⅲ：高并发与反向代理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实测容量 → 容量规划 → 生产拓扑：扩展单位小、成本线性可预测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56616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58952" y="15727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容量外推（基于实测）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58952" y="20574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单实例 E2E 44.1 QPS · 0 失败（bench 实测）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万名学生 · 日均 5,000 问 · 峰值系数 5× → 峰值 &lt; 3 QPS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单实例余量 10× 以上；千级 QPS ≈ 25 实例线性达标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25112" y="1371600"/>
            <a:ext cx="356616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5727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C4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扩展三级（应用无状态）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81144" y="20574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uvicorn --workers 4：同机 ≈ 2–3× 吞吐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Nginx 反代 → 多实例负载均衡，水平扩容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限流/会话外置 Redis —— 与部署演进页四项替换一致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47304" y="1371600"/>
            <a:ext cx="356616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03336" y="15727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反向代理要点（Nginx）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03336" y="20574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proxy_buffering off —— SSE 流式直通不缓冲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proxy_read_timeout ≥ 60s · 静态资源 Nginx 直出 · TLS 终止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100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limit_req + 应用令牌桶：双层限流抗突发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526280"/>
            <a:ext cx="11183112" cy="1554480"/>
          </a:xfrm>
          <a:prstGeom prst="roundRect">
            <a:avLst>
              <a:gd name="adj" fmla="val 5294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709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成本可预测性：经济适用型的架构回报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512064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扩容单位 = 一台 ≈¥30/月的轻量服务器：容量与成本线性挂钩，从 1 台到 25 台没有雪崩式成本跃迁；无状态设计让「加机器」成为唯一的扩容动作，运维复杂度不随规模爆炸。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周迭代计划与团队分工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架构师牵头 · 前后端与数据运营并行 · 测试贯穿全程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975104"/>
            <a:ext cx="8961120" cy="0"/>
          </a:xfrm>
          <a:prstGeom prst="line">
            <a:avLst/>
          </a:prstGeom>
          <a:noFill/>
          <a:ln w="31750">
            <a:solidFill>
              <a:srgbClr val="E3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233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0233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1–W2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W1–W2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调研+需求+架构原型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质量属性场景·分层图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4261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4261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3–W4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W3–W4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9280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知识库+混合检索落地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9280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双通道召回·RRF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8289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8289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5–W6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4340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W5–W6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3308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前端+生成插件化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3308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流式·看板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23176" y="1691640"/>
            <a:ext cx="566928" cy="566928"/>
          </a:xfrm>
          <a:prstGeom prst="ellipse">
            <a:avLst/>
          </a:prstGeom>
          <a:solidFill>
            <a:srgbClr val="3B5BF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2317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5BF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7336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压测调优+文档 PPT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37336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评测报告·录屏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63456" y="1691640"/>
            <a:ext cx="566928" cy="566928"/>
          </a:xfrm>
          <a:prstGeom prst="ellipse">
            <a:avLst/>
          </a:prstGeom>
          <a:solidFill>
            <a:srgbClr val="FF8A3D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6345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82396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13648" y="271576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2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答辩演练与交付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613648" y="34107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73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录屏剪辑·演示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4892040"/>
            <a:ext cx="11183112" cy="1325880"/>
          </a:xfrm>
          <a:prstGeom prst="roundRect">
            <a:avLst>
              <a:gd name="adj" fmla="val 6207"/>
            </a:avLst>
          </a:prstGeom>
          <a:solidFill>
            <a:srgbClr val="171C36"/>
          </a:solidFill>
          <a:ln w="9525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3600000">
              <a:srgbClr val="232B52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68680" y="512064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F8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角色分工：</a:t>
            </a:r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王若璋（组长/架构：架构与 ADR、检索引擎、测试验收）· 何俐（后端/数据：生成与 Provider、摄取与热更新、评测集）· 郭祚梁（前端/材料：三视图、流式溯源、文档与答辩材料）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-2194560"/>
            <a:ext cx="8229600" cy="10972800"/>
          </a:xfrm>
          <a:prstGeom prst="rect">
            <a:avLst/>
          </a:prstGeom>
          <a:solidFill>
            <a:srgbClr val="232B5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6949440" y="-2194560"/>
            <a:ext cx="8229600" cy="10972800"/>
          </a:xfrm>
          <a:prstGeom prst="rect">
            <a:avLst/>
          </a:prstGeom>
          <a:solidFill>
            <a:srgbClr val="3B5BFD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685800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60120" y="17830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9476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双模生成架构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3500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本地抽取式与云端 GLM 共享同一 RAG 链路，离线可演示、故障自降级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476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检索可观察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3500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双通道排名与重排分数同步暴露给前端与调试接口，过程可解释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60120" y="33832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3547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知识热更新闭环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9502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录入即建索引无需重启，同义词运营使 Hit@3 +5pp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33832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232B52">
              <a:alpha val="80000"/>
            </a:srgbClr>
          </a:solidFill>
          <a:ln w="9525">
            <a:solidFill>
              <a:srgbClr val="3D4A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547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FBC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演进型架构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0" y="39502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2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单机演示与生产集群共享接口，每步替换都是可评分的决策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97280" y="5120640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B97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下一步：语义向量 + Cross-Encoder 重排 · 统一身份认证 · 知识源自动采集 · SaaS 多租户与持续评测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97280" y="571500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欢迎提问 · 谢谢！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智问校园 CampusMind · 架构答辩</dc:title>
  <dc:subject>PptxGenJS Presentation</dc:subject>
  <dc:creator>CampusMind 项目组</dc:creator>
  <cp:lastModifiedBy>CampusMind 项目组</cp:lastModifiedBy>
  <cp:revision>1</cp:revision>
  <dcterms:created xsi:type="dcterms:W3CDTF">2026-10-09T00:33:49Z</dcterms:created>
  <dcterms:modified xsi:type="dcterms:W3CDTF">2026-10-09T00:33:49Z</dcterms:modified>
</cp:coreProperties>
</file>