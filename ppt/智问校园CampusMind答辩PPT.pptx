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Hit@1</c:v>
                </c:pt>
              </c:strCache>
            </c:strRef>
          </c:tx>
          <c:spPr>
            <a:solidFill>
              <a:srgbClr val="A8B5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C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BM25-only</c:v>
                  </c:pt>
                  <c:pt idx="1">
                    <c:v>Vector(TF-IDF)</c:v>
                  </c:pt>
                  <c:pt idx="2">
                    <c:v>Hybrid+RRF(默认)</c:v>
                  </c:pt>
                  <c:pt idx="3">
                    <c:v>Hybrid+Rerank(开关)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80.6</c:v>
                </c:pt>
                <c:pt idx="1">
                  <c:v>75.8</c:v>
                </c:pt>
                <c:pt idx="2">
                  <c:v>80.6</c:v>
                </c:pt>
                <c:pt idx="3">
                  <c:v>74.2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Hit@3</c:v>
                </c:pt>
              </c:strCache>
            </c:strRef>
          </c:tx>
          <c:spPr>
            <a:solidFill>
              <a:srgbClr val="3B5B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C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BM25-only</c:v>
                  </c:pt>
                  <c:pt idx="1">
                    <c:v>Vector(TF-IDF)</c:v>
                  </c:pt>
                  <c:pt idx="2">
                    <c:v>Hybrid+RRF(默认)</c:v>
                  </c:pt>
                  <c:pt idx="3">
                    <c:v>Hybrid+Rerank(开关)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98.4</c:v>
                </c:pt>
                <c:pt idx="1">
                  <c:v>93.5</c:v>
                </c:pt>
                <c:pt idx="2">
                  <c:v>98.4</c:v>
                </c:pt>
                <c:pt idx="3">
                  <c:v>90.3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C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A73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3E7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A739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A7390"/>
                    </a:solidFill>
                    <a:latin typeface="Arial"/>
                  </a:rPr>
                  <a:t>命中率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A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A739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开场:大家好,我们的课程项目是智问校园——一个基于AI+RAG的校园智能问答系统。先看44秒演示再展开讲架构。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四个环节:背景需求、架构设计、实现验证、演进总结。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痛点:分散、低效、无溯源。校园信息对准确性要求高,纯大模型会幻觉,所以选RAG。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质量属性场景六元组:每个属性有场景、目标、落点。约束:短工期、零预算、可溯源。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五层架构:每层职责清晰;质量属性可定位到层:性能→引擎层,可修改性→数据层,扩展性→无状态应用层。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时序的两个关键设计:①检索完成先推meta事件让前端先看到正在参考哪些资料;②生成完成才落库。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混合检索三段式:两路并行召回→RRF融合→重排精选。双模生成:本地抽取式保降级,云端GLM保效果。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六项ADR都有备选方案和否决理由,体现架构合理性与权衡。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选型原则:演示零依赖可离线跑,但每个选择都预留了接口不变的升级路径。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演示两个画面:聊天流式回答+引用卡片;运行看板。录屏里还有知识库管理和热更新环节。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热更新闭环:录入到可被检索不需要重启服务,这是可修改性场景的直接验证。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四路评测:BM25最强。调优修复三缺陷后生产链路提升到87%以上0近水平。实证结论诚实呈现。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性能拆分:检索217QPS远超目标;E2E含生成42QPS。吞吐下降的原因如实说明。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四项验收全部PASS。追踪链从需求到证据全链条可追溯，脚本可复现。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三道防线:限流防流量,降级防故障,溯源拗幻觉。无Key环境下系统仍完整服务就是降级路径的活证明。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每一步替换(SQLite→PG、内存索引→Milvus、本地→GLM、代砆→Redis)都是一个可单独评分的架构决策。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8周五阶段:原型→检索落地→前端+插件化→调优文档→答辩。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四个创新点收尾,预留提问时间。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828800" y="-2194560"/>
            <a:ext cx="8229600" cy="10972800"/>
          </a:xfrm>
          <a:prstGeom prst="rect">
            <a:avLst/>
          </a:prstGeom>
          <a:solidFill>
            <a:srgbClr val="232B5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840000">
            <a:off x="6949440" y="-2194560"/>
            <a:ext cx="8229600" cy="10972800"/>
          </a:xfrm>
          <a:prstGeom prst="rect">
            <a:avLst/>
          </a:prstGeom>
          <a:solidFill>
            <a:srgbClr val="3B5BF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212080" y="658368"/>
            <a:ext cx="1737360" cy="1737360"/>
          </a:xfrm>
          <a:prstGeom prst="roundRect">
            <a:avLst>
              <a:gd name="adj" fmla="val 16842"/>
            </a:avLst>
          </a:prstGeom>
          <a:solidFill>
            <a:srgbClr val="3B5BFD"/>
          </a:solidFill>
          <a:ln/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0" y="658368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9994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智问校园 CampusMind</a:t>
            </a:r>
            <a:endParaRPr lang="en-US" sz="5100" dirty="0"/>
          </a:p>
        </p:txBody>
      </p:sp>
      <p:sp>
        <p:nvSpPr>
          <p:cNvPr id="7" name="Text 5"/>
          <p:cNvSpPr/>
          <p:nvPr/>
        </p:nvSpPr>
        <p:spPr>
          <a:xfrm>
            <a:off x="1097280" y="3639312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9D2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 AI + RAG 的校园智能问答系统 · 软件体系结构课程答辩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063240" y="4370832"/>
            <a:ext cx="2816352" cy="365760"/>
          </a:xfrm>
          <a:prstGeom prst="roundRect">
            <a:avLst>
              <a:gd name="adj" fmla="val 50000"/>
            </a:avLst>
          </a:prstGeom>
          <a:solidFill>
            <a:srgbClr val="232B52"/>
          </a:solidFill>
          <a:ln w="9525">
            <a:solidFill>
              <a:srgbClr val="3D4A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438912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BC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混合检索 BM25 ∥ 向量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57800" y="4370832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232B52"/>
          </a:solidFill>
          <a:ln w="9525">
            <a:solidFill>
              <a:srgbClr val="3D4A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43891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BC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RRF 融合 + 重排序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4370832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232B52"/>
          </a:solidFill>
          <a:ln w="9525">
            <a:solidFill>
              <a:srgbClr val="3D4A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438912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BC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SSE 流式生成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41080" y="4370832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232B52"/>
          </a:solidFill>
          <a:ln w="9525">
            <a:solidFill>
              <a:srgbClr val="3D4A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438912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BC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引用溯源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562356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B97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汇报人：王若璋（组长/架构） · 何俐 · 郭祚梁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B97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 9 月 18 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汇报提纲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从问题到架构再到验证，四个环节展开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3112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09344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74520" y="16276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背景与需求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74520" y="204825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痛点调研 · 质量属性场景 · 约束条件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688336"/>
            <a:ext cx="11183112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816352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4D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874520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架构设计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874520" y="3255264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五层分层 · RAG 核心链路 · 6 项关键决策 ADR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895344"/>
            <a:ext cx="11183112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02336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874520" y="40416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实现与验证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874520" y="44622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可运行系统 · 检索评测 · 性能压测 · 演示录屏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102352"/>
            <a:ext cx="11183112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5230368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4D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874520" y="5248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演进与总结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874520" y="566928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单机→生产演进 · 8 周计划 · 创新点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背景：校园咨询的三个痛点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调研结论驱动选题：高频、分散、无口径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分散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规章分属不同部门网站，学生难以定位信息来源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18211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1F3F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9582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选课/奖助/宿舍/就业 各自为政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41732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9432" y="22128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人工咨询受工作时间限制，晚间与假期无法响应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99432" y="318211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1F3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319582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辅导员下班后无人回应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47304" y="141732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21624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无溯源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21624" y="22128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同一问题不同渠道答案不一，缺乏权威口径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21624" y="318211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1F3FA"/>
          </a:solidFill>
          <a:ln/>
        </p:spPr>
      </p:sp>
      <p:sp>
        <p:nvSpPr>
          <p:cNvPr id="19" name="Text 17"/>
          <p:cNvSpPr/>
          <p:nvPr/>
        </p:nvSpPr>
        <p:spPr>
          <a:xfrm>
            <a:off x="8421624" y="319582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网络回答无来源标注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06908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171C36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315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选题思路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70916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为什么是 AI + RAG？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C9D2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—— 大模型直接回答会幻觉，而校园信息要求准确可溯源。RAG 先检索再生成，把知识库作为回答的唯一事实来源。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需求分析：六元组质量属性场景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每个质量属性都有可验证的量化目标，并映射到架构层次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311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937760"/>
                <a:gridCol w="3291840"/>
                <a:gridCol w="15087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属性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关键场景（刺激源 → 响应）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量化目标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落点层次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性能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奖助申报季并发 5 倍峰值，响应不阪塔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首字 &lt; 1s · 检索 P95 &lt; 50ms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RAG 引擎层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可用性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云端 LLM 超时/故障时自动降级继续服务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降级零人工 · 可用性 ≥ 99.5%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生成 Provider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可修改性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知识新增/修正后新知识立即生效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索引热更新 &lt; 5s 无需重启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摄取+索引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可扩展性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用户增长靠加副本而非重构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应用无状态 · N 副本负载均衡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应用服务层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安全性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单用户高频请求不拖垮服务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令牌桶 5 QPS/用户 · 超限 429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网关边界层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48640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约束条件：8 周工期 · 3 人团队 · 零预算演示 · 回答必须可溯源不编造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总体架构：五层分层 + 模块化单体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 → 网关边界 → 应用服务 → RAG 引擎 → 数据；模块间仅接口依赖，预留服务化边界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100" dirty="0"/>
          </a:p>
        </p:txBody>
      </p:sp>
      <p:pic>
        <p:nvPicPr>
          <p:cNvPr id="5" name="Image 0" descr="/Users/yaya/SHU/2601/软件体系结构/campus-qa/docs/assets/arch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298448"/>
            <a:ext cx="90525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 核心链路：检索 → 融合 → 重排 → 流式生成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SSE 事件流：meta（先推引用来源）→ delta（token 流）→ done（落库）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100" dirty="0"/>
          </a:p>
        </p:txBody>
      </p:sp>
      <p:pic>
        <p:nvPicPr>
          <p:cNvPr id="5" name="Image 0" descr="/Users/yaya/SHU/2601/软件体系结构/campus-qa/docs/assets/arch_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104698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混合检索：为什么要两条通道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 BM25 不懂同义改写，向量通道现为 TF-IDF 词袋（离线如实标注），云端语义向量 Provider 已实现待接入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1874520" cy="969264"/>
          </a:xfrm>
          <a:prstGeom prst="roundRect">
            <a:avLst>
              <a:gd name="adj" fmla="val 8491"/>
            </a:avLst>
          </a:prstGeom>
          <a:solidFill>
            <a:srgbClr val="171C36"/>
          </a:solidFill>
          <a:ln/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786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学生提问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9626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「饭卡找不到了」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517904"/>
            <a:ext cx="1874520" cy="969264"/>
          </a:xfrm>
          <a:prstGeom prst="roundRect">
            <a:avLst>
              <a:gd name="adj" fmla="val 8491"/>
            </a:avLst>
          </a:prstGeom>
          <a:solidFill>
            <a:srgbClr val="3B5BFD"/>
          </a:solidFill>
          <a:ln/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627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BM25 稀疏通道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14600" y="20116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关键词精确匹配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3419856"/>
            <a:ext cx="1874520" cy="969264"/>
          </a:xfrm>
          <a:prstGeom prst="roundRect">
            <a:avLst>
              <a:gd name="adj" fmla="val 8491"/>
            </a:avLst>
          </a:prstGeom>
          <a:solidFill>
            <a:srgbClr val="7C4DFF"/>
          </a:solidFill>
          <a:ln/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352958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TF-IDF 向量通道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14600" y="39136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离线词袋 · 可插拔语义向量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2468880"/>
            <a:ext cx="1874520" cy="969264"/>
          </a:xfrm>
          <a:prstGeom prst="roundRect">
            <a:avLst>
              <a:gd name="adj" fmla="val 8491"/>
            </a:avLst>
          </a:prstGeom>
          <a:solidFill>
            <a:srgbClr val="232B52"/>
          </a:solidFill>
          <a:ln/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25786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RRF 融合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83480" y="296265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3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按排名融合 k=60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2468880"/>
            <a:ext cx="1874520" cy="969264"/>
          </a:xfrm>
          <a:prstGeom prst="roundRect">
            <a:avLst>
              <a:gd name="adj" fmla="val 8491"/>
            </a:avLst>
          </a:prstGeom>
          <a:solidFill>
            <a:srgbClr val="FF8A3D"/>
          </a:solidFill>
          <a:ln/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25786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重排序(可选开关)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0" y="296265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3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默认关闭 RERANK_ENABLED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0" y="2953512"/>
            <a:ext cx="137160" cy="-950976"/>
          </a:xfrm>
          <a:prstGeom prst="line">
            <a:avLst/>
          </a:prstGeom>
          <a:noFill/>
          <a:ln w="25400">
            <a:solidFill>
              <a:srgbClr val="6A73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377440" y="2953512"/>
            <a:ext cx="137160" cy="950976"/>
          </a:xfrm>
          <a:prstGeom prst="line">
            <a:avLst/>
          </a:prstGeom>
          <a:noFill/>
          <a:ln w="25400">
            <a:solidFill>
              <a:srgbClr val="6A739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89120" y="2002536"/>
            <a:ext cx="594360" cy="950976"/>
          </a:xfrm>
          <a:prstGeom prst="line">
            <a:avLst/>
          </a:prstGeom>
          <a:noFill/>
          <a:ln w="25400">
            <a:solidFill>
              <a:srgbClr val="6A739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89120" y="3904488"/>
            <a:ext cx="594360" cy="-950976"/>
          </a:xfrm>
          <a:prstGeom prst="line">
            <a:avLst/>
          </a:prstGeom>
          <a:noFill/>
          <a:ln w="25400">
            <a:solidFill>
              <a:srgbClr val="6A73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2953512"/>
            <a:ext cx="0" cy="0"/>
          </a:xfrm>
          <a:prstGeom prst="line">
            <a:avLst/>
          </a:prstGeom>
          <a:noFill/>
          <a:ln w="25400">
            <a:solidFill>
              <a:srgbClr val="6A73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464040" y="2212848"/>
            <a:ext cx="2240280" cy="1463040"/>
          </a:xfrm>
          <a:prstGeom prst="roundRect">
            <a:avLst>
              <a:gd name="adj" fmla="val 6250"/>
            </a:avLst>
          </a:prstGeom>
          <a:solidFill>
            <a:srgbClr val="E9EDFF"/>
          </a:solidFill>
          <a:ln w="12700">
            <a:solidFill>
              <a:srgbClr val="3B5B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64040" y="2359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 Provider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6404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本地抽取式 ∥ 云端 GLM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插件化双模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故障自动降级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32520" y="2953512"/>
            <a:ext cx="731520" cy="0"/>
          </a:xfrm>
          <a:prstGeom prst="line">
            <a:avLst/>
          </a:prstGeom>
          <a:noFill/>
          <a:ln w="25400">
            <a:solidFill>
              <a:srgbClr val="6A739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02920" y="489204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507492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可观察性设计：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调试接口与前端引用卡片同步暴露双通道排名与融合分数 —— 检索过程可解释、可课件化、可调参（如右图：BM25#1 · VEC#1 · 85%）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关键架构决策（ADR 摘要）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每个决策都有被否决的备选方案与理由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6642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ADR-1 模块化单体起步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8952" y="23774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否决微服务全家桶（8 周工期不容许）与纯分层（拆分代价高），保留服务化边界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1144" y="16642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ADR-2 混合检索默认 RRF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81144" y="23774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否决单一通道；重排实测无收益降为开关；向量现态 TF-IDF（ADR-7）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47304" y="146304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03336" y="16642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ADR-3 SSE 承载流式回答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03336" y="23774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否决 WebSocket：单向推送场景更轻量、对网关友好；WS 留待后续双向场景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" y="39959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ADR-4 生成 Provider 插件化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8952" y="47091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否决强依赖云端 LLM：演示可离线跑，云端故障自动降级不中断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25112" y="379476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81144" y="39959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ADR-5 内存索引+热重建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81144" y="47091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否决每请求重建索引；万级 chunk 内存足够，超出再迁向量库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47304" y="379476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03336" y="39959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ADR-6 令牌桶入口限流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03336" y="47091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演示代砆无统一身份；协议兼容，生产换 Redis 滑动窗口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技术选型：关键维度对比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选型依据：工期约束 · 离线可跑 · 接口不变的演进能力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  <a:gridCol w="2834640"/>
                <a:gridCol w="3657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选型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备选方案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决定性理由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 框架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FastAPI + 原生 JS SPA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9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Django / Spring Cloud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9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SSE/async 原生支持，零构建前端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检索架构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自实现 BM25+TF-IDF 向量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9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Elasticsearch / Milvus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9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零依赖演示；接口已预留升级位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LLM 接入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智谱 GLM(openai 兼容)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9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自部开源模型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9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标准协议可平滑替换供应商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业务存储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SQLite(WAL)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9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PostgreSQL / MySQL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9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单文件备份；仓储层接口不变直接平移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流式协议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SSE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9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WebSocket / 轮询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9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单向推送足够，网关友好且实现简单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Embedding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TF-IDF 离线 + 云端 Provider 已实现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9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本地深度模型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9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 Key 如实回退 TF-IDF；配 Key 即切语义向量，接口不变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系统演示：流式回答与运行看板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实机截图 —— 完整演示见 60 秒录屏 video/demo_frontend_v2.webm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67208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pic>
        <p:nvPicPr>
          <p:cNvPr id="6" name="Image 0" descr="/Users/yaya/SHU/2601/软件体系结构/campus-qa/video/frames/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27048"/>
            <a:ext cx="6501384" cy="3438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461772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631436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流式回答 + 引用溯源卡片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1417320"/>
            <a:ext cx="411480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pic>
        <p:nvPicPr>
          <p:cNvPr id="10" name="Image 1" descr="/Users/yaya/SHU/2601/软件体系结构/campus-qa/video/frames/f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8" y="1527048"/>
            <a:ext cx="3895344" cy="34381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72400" y="461772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4631436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运行看板：命中率/时延/热点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5257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777240" y="60624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知识命中率（演示会话）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160520" y="5257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4.5ms</a:t>
            </a:r>
            <a:endParaRPr lang="en-US" sz="4400" dirty="0"/>
          </a:p>
        </p:txBody>
      </p:sp>
      <p:sp>
        <p:nvSpPr>
          <p:cNvPr id="16" name="Text 12"/>
          <p:cNvSpPr/>
          <p:nvPr/>
        </p:nvSpPr>
        <p:spPr>
          <a:xfrm>
            <a:off x="4160520" y="60624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新知识即时检索命中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543800" y="5257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4D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v6</a:t>
            </a:r>
            <a:endParaRPr lang="en-US" sz="4400" dirty="0"/>
          </a:p>
        </p:txBody>
      </p:sp>
      <p:sp>
        <p:nvSpPr>
          <p:cNvPr id="18" name="Text 14"/>
          <p:cNvSpPr/>
          <p:nvPr/>
        </p:nvSpPr>
        <p:spPr>
          <a:xfrm>
            <a:off x="7543800" y="60624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索引版本(顶栏可见)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知识热更新闭环：录入即可答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录屏实况：新增「快递驿站取件」条目 → 索引热重建 → 立即命中回答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66928" cy="566928"/>
          </a:xfrm>
          <a:prstGeom prst="ellipse">
            <a:avLst/>
          </a:prstGeom>
          <a:solidFill>
            <a:srgbClr val="3B5BFD"/>
          </a:solidFill>
          <a:ln/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61288" y="1883664"/>
            <a:ext cx="2212848" cy="0"/>
          </a:xfrm>
          <a:prstGeom prst="line">
            <a:avLst/>
          </a:prstGeom>
          <a:noFill/>
          <a:ln w="25400">
            <a:solidFill>
              <a:srgbClr val="E3E7F2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录入新知识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-182880" y="26974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管理端填写问法/答案/来源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47288" y="1600200"/>
            <a:ext cx="566928" cy="566928"/>
          </a:xfrm>
          <a:prstGeom prst="ellipse">
            <a:avLst/>
          </a:prstGeom>
          <a:solidFill>
            <a:srgbClr val="3B5BFD"/>
          </a:solidFill>
          <a:ln/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47288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05656" y="1883664"/>
            <a:ext cx="2212848" cy="0"/>
          </a:xfrm>
          <a:prstGeom prst="line">
            <a:avLst/>
          </a:prstGeom>
          <a:noFill/>
          <a:ln w="25400">
            <a:solidFill>
              <a:srgbClr val="E3E7F2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944368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索引热重建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61488" y="26974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136 chunks · 版本递增 · 无需重启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91656" y="1600200"/>
            <a:ext cx="566928" cy="566928"/>
          </a:xfrm>
          <a:prstGeom prst="ellipse">
            <a:avLst/>
          </a:prstGeom>
          <a:solidFill>
            <a:srgbClr val="3B5BFD"/>
          </a:solidFill>
          <a:ln/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91656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050024" y="1883664"/>
            <a:ext cx="2212848" cy="0"/>
          </a:xfrm>
          <a:prstGeom prst="line">
            <a:avLst/>
          </a:prstGeom>
          <a:noFill/>
          <a:ln w="25400">
            <a:solidFill>
              <a:srgbClr val="E3E7F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888736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提问验证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05856" y="26974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「快递驿站怎么取件」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36024" y="1600200"/>
            <a:ext cx="566928" cy="566928"/>
          </a:xfrm>
          <a:prstGeom prst="ellipse">
            <a:avLst/>
          </a:prstGeom>
          <a:solidFill>
            <a:srgbClr val="FF8A3D"/>
          </a:solidFill>
          <a:ln/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36024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833104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命中回答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50224" y="26974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BM25#1 · VEC#1 · 置信 100%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566160"/>
            <a:ext cx="55778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pic>
        <p:nvPicPr>
          <p:cNvPr id="25" name="Image 0" descr="/Users/yaya/SHU/2601/软件体系结构/campus-qa/video/frames/f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657600"/>
            <a:ext cx="5394960" cy="246888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31520" y="5806440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5820156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录屏：管理端录入与提交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00800" y="356616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pic>
        <p:nvPicPr>
          <p:cNvPr id="29" name="Image 1" descr="/Users/yaya/SHU/2601/软件体系结构/campus-qa/video/frames/f5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657600"/>
            <a:ext cx="5074920" cy="246888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6629400" y="5806440"/>
            <a:ext cx="420624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/>
        </p:spPr>
      </p:sp>
      <p:sp>
        <p:nvSpPr>
          <p:cNvPr id="31" name="Text 27"/>
          <p:cNvSpPr/>
          <p:nvPr/>
        </p:nvSpPr>
        <p:spPr>
          <a:xfrm>
            <a:off x="6629400" y="5820156"/>
            <a:ext cx="4206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录屏：新知识被立即检索回答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评测矩阵：62 条口语化改写 × 四条链路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评估单位为文档级；向量通道为 TF-IDF 词袋（非语义嵌入，如实标注）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554480"/>
          <a:ext cx="6492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5961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数据源：scripts/eval_matrix.py，n=62，统一文档级去重口径，MRR：0.884 / 0.844 / 0.884 / 0.815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269480" y="1554480"/>
            <a:ext cx="43891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1755648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调优过程修复三个真实缺陷：</a:t>
            </a:r>
            <a:endParaRPr lang="en-US" sz="125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停用词表构造 bug（整串未 split）② RRF 候选池截断压缩文档多样性 ③ 缺文档级去重（引用卡片重复根因），统一口径后 RRF 实测 98.4%（旧口径 95.2% 存在重复占位失真）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269480" y="3657600"/>
            <a:ext cx="4389120" cy="1828800"/>
          </a:xfrm>
          <a:prstGeom prst="roundRect">
            <a:avLst>
              <a:gd name="adj" fmla="val 4500"/>
            </a:avLst>
          </a:prstGeom>
          <a:solidFill>
            <a:srgbClr val="171C36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0" y="3858768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实证结论：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C9D2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BM25 对关键词密集型规章问题最好；TF-IDF 向量补充另一视角但未稳定超过 BM25；轻量 Reranker 实测无收益，默认关闭保持 Provider 化，待替换 Cross-Encoder 后再评估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性能基准：检索与全链路拆分实测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retrieval-only 进程内直调；local-extractive E2E 含检索+流式生成+落库（HTTP，并发 20）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371600"/>
                <a:gridCol w="1463040"/>
                <a:gridCol w="1463040"/>
                <a:gridCol w="1463040"/>
                <a:gridCol w="117043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样本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QPS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p50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p95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p99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失败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retrieval-only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300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251.4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3.4ms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7.0ms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7.2ms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local-extractive E2E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200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44.1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415.7ms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601.0ms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611.1ms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68680" y="3794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251.4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45994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retrieval-only 吞吐（QPS）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4910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p95 7.0ms，远优于 50ms 目标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37960" y="3794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4D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44.1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537960" y="45994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E2E 吞吐（QPS，含生成）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37960" y="4910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p99 611ms，200/200 成功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534924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550468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如实说明：</a:t>
            </a:r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历史对照：Rerank 默认时期 217.8 / 42.0 QPS，初版 67.8 QPS；默认切换至 RRF 后检索计算量下降，吞吐回升，数据如实呈现。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635508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数据源：scripts/bench.py（retrieval / e2e 两模式），2026-09-18 实测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追踪矩阵与四项架构验收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 → 质量属性 → ADR → 模块 → 测试 → 证据，全链条可追溯（见 docs/traceability.md）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311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931920"/>
                <a:gridCol w="1005840"/>
                <a:gridCol w="414223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A1 生成降级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云端 GLM 无效 Key → 流内回退本地抽取式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降级产出 139 字正解，服务不中断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F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A2 入口限流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单用户并发突发 15（桶容量 10）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B76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200×10 + 429×5，超容请求被拒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A3 知识热更新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录入即检索，无需重启，验后清理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B76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索引版本 1→2→3 递增，即时命中并正确回答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5BF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A4 无知识兑底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无相关知识时不编造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B76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3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sources=0，返回引导性回退话术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977640"/>
            <a:ext cx="1828800" cy="658368"/>
          </a:xfrm>
          <a:prstGeom prst="chevron">
            <a:avLst/>
          </a:prstGeom>
          <a:solidFill>
            <a:srgbClr val="3B5BFD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" y="40050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 FR/NFR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41448" y="3977640"/>
            <a:ext cx="1828800" cy="658368"/>
          </a:xfrm>
          <a:prstGeom prst="chevron">
            <a:avLst/>
          </a:prstGeom>
          <a:solidFill>
            <a:srgbClr val="7C4DFF"/>
          </a:solidFill>
          <a:ln/>
        </p:spPr>
      </p:sp>
      <p:sp>
        <p:nvSpPr>
          <p:cNvPr id="9" name="Text 6"/>
          <p:cNvSpPr/>
          <p:nvPr/>
        </p:nvSpPr>
        <p:spPr>
          <a:xfrm>
            <a:off x="2551176" y="40050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质量属性场景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79976" y="3977640"/>
            <a:ext cx="1828800" cy="658368"/>
          </a:xfrm>
          <a:prstGeom prst="chevron">
            <a:avLst/>
          </a:prstGeom>
          <a:solidFill>
            <a:srgbClr val="3B5BFD"/>
          </a:solidFill>
          <a:ln/>
        </p:spPr>
      </p:sp>
      <p:sp>
        <p:nvSpPr>
          <p:cNvPr id="11" name="Text 8"/>
          <p:cNvSpPr/>
          <p:nvPr/>
        </p:nvSpPr>
        <p:spPr>
          <a:xfrm>
            <a:off x="4489704" y="40050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ADR ×7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18504" y="3977640"/>
            <a:ext cx="1828800" cy="658368"/>
          </a:xfrm>
          <a:prstGeom prst="chevron">
            <a:avLst/>
          </a:prstGeom>
          <a:solidFill>
            <a:srgbClr val="7C4DFF"/>
          </a:solidFill>
          <a:ln/>
        </p:spPr>
      </p:sp>
      <p:sp>
        <p:nvSpPr>
          <p:cNvPr id="13" name="Text 10"/>
          <p:cNvSpPr/>
          <p:nvPr/>
        </p:nvSpPr>
        <p:spPr>
          <a:xfrm>
            <a:off x="6428232" y="40050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实现模块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57032" y="3977640"/>
            <a:ext cx="1828800" cy="658368"/>
          </a:xfrm>
          <a:prstGeom prst="chevron">
            <a:avLst/>
          </a:prstGeom>
          <a:solidFill>
            <a:srgbClr val="3B5BFD"/>
          </a:solidFill>
          <a:ln/>
        </p:spPr>
      </p:sp>
      <p:sp>
        <p:nvSpPr>
          <p:cNvPr id="15" name="Text 12"/>
          <p:cNvSpPr/>
          <p:nvPr/>
        </p:nvSpPr>
        <p:spPr>
          <a:xfrm>
            <a:off x="8366760" y="40050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测试/验收脚本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195560" y="3977640"/>
            <a:ext cx="1828800" cy="658368"/>
          </a:xfrm>
          <a:prstGeom prst="chevron">
            <a:avLst/>
          </a:prstGeom>
          <a:solidFill>
            <a:srgbClr val="FF8A3D"/>
          </a:solidFill>
          <a:ln/>
        </p:spPr>
      </p:sp>
      <p:sp>
        <p:nvSpPr>
          <p:cNvPr id="17" name="Text 14"/>
          <p:cNvSpPr/>
          <p:nvPr/>
        </p:nvSpPr>
        <p:spPr>
          <a:xfrm>
            <a:off x="10305288" y="40050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实测证据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493776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77240" y="512064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证据体系：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62 条评测集（四路对比）、300+200 性能基准（含 p50/p95/p99）、四项验收 4/4 PASS、60 秒演示录屏 —— 全部由 scripts/ 下可复现脚本产出，任何结论可重跑验证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安全与稳定性：三道防线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限流拗流量 · 降级保可用 · 溯源拗幻觉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865376"/>
            <a:ext cx="603504" cy="603504"/>
          </a:xfrm>
          <a:prstGeom prst="ellipse">
            <a:avLst/>
          </a:prstGeom>
          <a:solidFill>
            <a:srgbClr val="3B5BFD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8653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664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令牌桶限流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13969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QPS/用户 · 突发 10，超限返回 429；Pydantic 强校验输入长度与内容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29800" y="198424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1997964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演示代砆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054096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" y="3438144"/>
            <a:ext cx="603504" cy="603504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4381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2369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生成降级熔断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91640" y="371246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云端 GLM 30s 超时；任何异常流内回退本地抽取式生成，服务不中断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29800" y="3557016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0" y="3570732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检索永远可用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626864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5528" y="5010912"/>
            <a:ext cx="603504" cy="603504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50109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48097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引用溯源拗幻觉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91640" y="5285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回答强制标注来源与分类；无命中不编造，回退话术并引导换问法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829800" y="5129784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/>
        </p:spPr>
      </p:sp>
      <p:sp>
        <p:nvSpPr>
          <p:cNvPr id="25" name="Text 23"/>
          <p:cNvSpPr/>
          <p:nvPr/>
        </p:nvSpPr>
        <p:spPr>
          <a:xfrm>
            <a:off x="9829800" y="5143500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4D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提示「以官方通知为准」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部署演进：接口不变，组件可替换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单机演示 → 生产集群的平滑演进路径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100" dirty="0"/>
          </a:p>
        </p:txBody>
      </p:sp>
      <p:pic>
        <p:nvPicPr>
          <p:cNvPr id="5" name="Image 0" descr="/Users/yaya/SHU/2601/软件体系结构/campus-qa/docs/assets/arch_depl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1060704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周迭代计划与团队分工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架构师牵头 · 前后端与数据运营并行 · 测试贯穿全程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975104"/>
            <a:ext cx="8961120" cy="0"/>
          </a:xfrm>
          <a:prstGeom prst="line">
            <a:avLst/>
          </a:prstGeom>
          <a:noFill/>
          <a:ln w="31750">
            <a:solidFill>
              <a:srgbClr val="E3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691640"/>
            <a:ext cx="566928" cy="566928"/>
          </a:xfrm>
          <a:prstGeom prst="ellipse">
            <a:avLst/>
          </a:prstGeom>
          <a:solidFill>
            <a:srgbClr val="3B5BFD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1–W2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-13716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W1–W2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-347472" y="2715768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调研+需求+架构原型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-347472" y="3410712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质量属性场景·分层图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42616" y="1691640"/>
            <a:ext cx="566928" cy="566928"/>
          </a:xfrm>
          <a:prstGeom prst="ellipse">
            <a:avLst/>
          </a:prstGeom>
          <a:solidFill>
            <a:srgbClr val="3B5BFD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42616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3–W4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W3–W4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92808" y="2715768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知识库+混合检索落地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892808" y="3410712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双通道召回·RRF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82896" y="1691640"/>
            <a:ext cx="566928" cy="566928"/>
          </a:xfrm>
          <a:prstGeom prst="ellipse">
            <a:avLst/>
          </a:prstGeom>
          <a:solidFill>
            <a:srgbClr val="3B5BFD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82896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5–W6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4340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W5–W6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33088" y="2715768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前端+生成插件化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33088" y="3410712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SSE 流式·看板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23176" y="1691640"/>
            <a:ext cx="566928" cy="566928"/>
          </a:xfrm>
          <a:prstGeom prst="ellipse">
            <a:avLst/>
          </a:prstGeom>
          <a:solidFill>
            <a:srgbClr val="3B5BFD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3176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73368" y="2715768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压测调优+文档 PPT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73368" y="3410712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评测报告·录屏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363456" y="1691640"/>
            <a:ext cx="566928" cy="56692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63456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2396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13648" y="2715768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答辩演练与交付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13648" y="3410712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A73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录屏剪辑·演示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4892040"/>
            <a:ext cx="11183112" cy="1325880"/>
          </a:xfrm>
          <a:prstGeom prst="roundRect">
            <a:avLst>
              <a:gd name="adj" fmla="val 6207"/>
            </a:avLst>
          </a:prstGeom>
          <a:solidFill>
            <a:srgbClr val="171C36"/>
          </a:solidFill>
          <a:ln w="9525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3600000">
              <a:srgbClr val="232B52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8680" y="512064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角色分工：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9D2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王若璋（组长/架构：架构与 ADR、检索引擎、测试验收）· 何俐（后端/数据：生成与 Provider、摄取与热更新、评测集）· 郭祚梁（前端/材料：三视图、流式溯源、文档与答辩材料）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828800" y="-2194560"/>
            <a:ext cx="8229600" cy="10972800"/>
          </a:xfrm>
          <a:prstGeom prst="rect">
            <a:avLst/>
          </a:prstGeom>
          <a:solidFill>
            <a:srgbClr val="232B5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840000">
            <a:off x="6949440" y="-2194560"/>
            <a:ext cx="8229600" cy="10972800"/>
          </a:xfrm>
          <a:prstGeom prst="rect">
            <a:avLst/>
          </a:prstGeom>
          <a:solidFill>
            <a:srgbClr val="3B5B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68580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总结与展望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17830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232B52">
              <a:alpha val="80000"/>
            </a:srgbClr>
          </a:solidFill>
          <a:ln w="9525">
            <a:solidFill>
              <a:srgbClr val="3D4A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9476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BC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双模生成架构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3500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2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本地抽取式与云端 GLM 共享同一 RAG 链路，离线可演示、故障自降级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232B52">
              <a:alpha val="80000"/>
            </a:srgbClr>
          </a:solidFill>
          <a:ln w="9525">
            <a:solidFill>
              <a:srgbClr val="3D4A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476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BC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检索可观察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3500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2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双通道排名与重排分数同步暴露给前端与调试接口，过程可解释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60120" y="33832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232B52">
              <a:alpha val="80000"/>
            </a:srgbClr>
          </a:solidFill>
          <a:ln w="9525">
            <a:solidFill>
              <a:srgbClr val="3D4A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5478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BC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知识热更新闭环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9502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2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录入即建索引无需重启，同义词运营使 Hit@3 +5pp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3832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232B52">
              <a:alpha val="80000"/>
            </a:srgbClr>
          </a:solidFill>
          <a:ln w="9525">
            <a:solidFill>
              <a:srgbClr val="3D4A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5478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BC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演进型架构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39502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2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单机演示与生产集群共享接口，每步替换都是可评分的决策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" y="512064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B97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下一步：语义向量 + Cross-Encoder 重排 · 统一身份认证 · 知识源自动采集 · 持续评测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97280" y="571500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欢迎提问 · 谢谢！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智问校园 CampusMind · 架构答辩</dc:title>
  <dc:subject>PptxGenJS Presentation</dc:subject>
  <dc:creator>CampusMind 项目组</dc:creator>
  <cp:lastModifiedBy>CampusMind 项目组</cp:lastModifiedBy>
  <cp:revision>1</cp:revision>
  <dcterms:created xsi:type="dcterms:W3CDTF">2026-09-21T09:58:52Z</dcterms:created>
  <dcterms:modified xsi:type="dcterms:W3CDTF">2026-09-21T09:58:52Z</dcterms:modified>
</cp:coreProperties>
</file>