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Hit@1</c:v>
                </c:pt>
              </c:strCache>
            </c:strRef>
          </c:tx>
          <c:spPr>
            <a:solidFill>
              <a:srgbClr val="3B5BFD"/>
            </a:solidFill>
          </c:spPr>
          <c:cat>
            <c:strRef>
              <c:f>Sheet1!$A$2:$A$5</c:f>
              <c:strCache>
                <c:ptCount val="4"/>
                <c:pt idx="0">
                  <c:v>BM25-only</c:v>
                </c:pt>
                <c:pt idx="1">
                  <c:v>向量 TF-IDF</c:v>
                </c:pt>
                <c:pt idx="2">
                  <c:v>混合+RRF(生产)</c:v>
                </c:pt>
                <c:pt idx="3">
                  <c:v>混合+重排(实验)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80.6</c:v>
                </c:pt>
                <c:pt idx="1">
                  <c:v>75.8</c:v>
                </c:pt>
                <c:pt idx="2">
                  <c:v>80.6</c:v>
                </c:pt>
                <c:pt idx="3">
                  <c:v>77.4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Hit@3</c:v>
                </c:pt>
              </c:strCache>
            </c:strRef>
          </c:tx>
          <c:spPr>
            <a:solidFill>
              <a:srgbClr val="99A9FF"/>
            </a:solidFill>
          </c:spPr>
          <c:cat>
            <c:strRef>
              <c:f>Sheet1!$A$2:$A$5</c:f>
              <c:strCache>
                <c:ptCount val="4"/>
                <c:pt idx="0">
                  <c:v>BM25-only</c:v>
                </c:pt>
                <c:pt idx="1">
                  <c:v>向量 TF-IDF</c:v>
                </c:pt>
                <c:pt idx="2">
                  <c:v>混合+RRF(生产)</c:v>
                </c:pt>
                <c:pt idx="3">
                  <c:v>混合+重排(实验)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98.4</c:v>
                </c:pt>
                <c:pt idx="1">
                  <c:v>93.5</c:v>
                </c:pt>
                <c:pt idx="2">
                  <c:v>98.4</c:v>
                </c:pt>
                <c:pt idx="3">
                  <c:v>96.8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>
                  <a:solidFill>
                    <a:srgbClr val="1C2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60.0"/>
        </c:scaling>
        <c:delete val="0"/>
        <c:axPos val="l"/>
        <c:majorGridlines>
          <c:spPr>
            <a:ln w="6350">
              <a:solidFill>
                <a:srgbClr val="E5E9F2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200">
          <a:solidFill>
            <a:srgbClr val="5A6478"/>
          </a:solidFill>
          <a:latin typeface="微软雅黑"/>
          <a:ea typeface="微软雅黑"/>
        </a:defRPr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旧 · 全量扫描</c:v>
                </c:pt>
              </c:strCache>
            </c:strRef>
          </c:tx>
          <c:spPr>
            <a:solidFill>
              <a:srgbClr val="C9D2E8"/>
            </a:solidFill>
          </c:spPr>
          <c:cat>
            <c:strRef>
              <c:f>Sheet1!$A$2:$A$3</c:f>
              <c:strCache>
                <c:ptCount val="2"/>
                <c:pt idx="0">
                  <c:v>当前语料 136 chunks</c:v>
                </c:pt>
                <c:pt idx="1">
                  <c:v>20× 语料 2,720 chunks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2145</c:v>
                </c:pt>
                <c:pt idx="1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 · 倒排索引</c:v>
                </c:pt>
              </c:strCache>
            </c:strRef>
          </c:tx>
          <c:spPr>
            <a:solidFill>
              <a:srgbClr val="3B5BFD"/>
            </a:solidFill>
          </c:spPr>
          <c:cat>
            <c:strRef>
              <c:f>Sheet1!$A$2:$A$3</c:f>
              <c:strCache>
                <c:ptCount val="2"/>
                <c:pt idx="0">
                  <c:v>当前语料 136 chunks</c:v>
                </c:pt>
                <c:pt idx="1">
                  <c:v>20× 语料 2,720 chunks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21505</c:v>
                </c:pt>
                <c:pt idx="1">
                  <c:v>2587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solidFill>
                    <a:srgbClr val="1C2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5E9F2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200">
          <a:solidFill>
            <a:srgbClr val="5A6478"/>
          </a:solidFill>
          <a:latin typeface="微软雅黑"/>
          <a:ea typeface="微软雅黑"/>
        </a:defRPr>
      </a:pPr>
      <a:endParaRPr lang="zh-CN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开场:一句话定位——面向在校学生的校园事务智能问答,自然语言提问,回答必带校内知识来源。右侧是真实产品界面。三个数字先立信任:评测集、验收、测试全绿。仓库已公开,所有指标可复现。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左侧三堵墙是访谈得出的真实痛点;右侧是技术方案的主线:双通道检索→RRF 融合→流式生成→引用溯源。特别强调最后一行:知识库没有的问题,系统宁可说不知道,这是可信性的底线。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架构叙事:五层从上到下一次请求穿过全栈。分层的目的不是分层本身,而是可替换:数据层可外置 PG/向量库,应用层无状态可水平扩展,引擎层 Provider 可插拔。右侧四个 ADR 是文档第 11 章追踪矩阵的入口。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沿着链路讲一遍:双通道并行召回、RRF 只看排名不比分数、重排是实验开关、SSE 先推 meta 让用户立刻看到在参考哪些资料。底部兜底是这套系统与「普通 ChatGPT 套壳」的本质区别:没有知识就说没有。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双通道定位要说清:BM25 管关键词精确匹配,向量管语义视角。演示环境向量是 TF-IDF 词袋,不是真语义嵌入——这是材料里如实标注的,不是藏着掖着。RRF 融合排名而非分数,省掉归一化这个老大难。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这一页讲架构决策 ADR-4/ADR-7 的落地:两端 Provider 同一套抽象,演示环境零依赖离线可跑,配置 Key 即切云端,异常自动降级。重点是降级不是静默的——前端如实显示当前引擎,这是产品诚实的一部分。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产品三视图走一遍:左边是核心体验——回答带引用卡片,双通道排名和分数直接可见;右上知识库管理,录入即热更新;右下运行看板,给运维和课程演示用。截图全部来自当前版本真实运行,非设计稿。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四道防线从外到内:入口限流保可用性;生成熔断保服务不挂;溯源兜底保可信性;写接口鉴权+XSS 转义保内容安全。后两道是 2026-10 完善轮新增/加固的,后面会展开讲怎么发现的。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评测方法先讲口径:62 条口语化改写、文档级去重、四条链路同口径,这是多次口径事故后统一的结果。数字如实:BM25 最好 80.6,重排实验路径 77.4——我们不挑好看的数字,默认链路选 RRF 是综合质量与成本的决定。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三个大数字先说结论:检索 880 QPS、端到端 44 QPS、零失败。延迟条展示两组分位数。底部坦白一个口径修正:旧基准测错了路径,新数字更高但更重要的是口径干净——历史值保留不删,这是项目的如实原则。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验收脚本 acceptance.py 全走真实 HTTP/进程内执行,不是 mock。四个场景都是生产最容易翻车的:云挂了、流量突刺、知识要更新、用户问库里没有的东西。结果 4/4 PASS,证据可复现。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完善轮的定位:不是重写,是独立视角的二轮调研。左侧按影响面分五组,每项都有编号和证据;右侧是修复后的回归结果——9 项修复、13/13 测试、4/4 验收、指标零回退。完整报告在 docs/IMPROVEMENTS.md。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这是完善轮最有代表性的一页:实现与设计文档不一致,但恰好被语料特性掩盖。修复后生产链路指标持平、实验链路反而提升 3-6pp。教训:指标没退不等于实现没错,公式要对齐设计。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F6 讲扩展性:倒排索引让 BM25 通道在 20 倍语料下从 68 QPS 提到 2,587 QPS,且与原算法逐位等价——性能优化不改行为。F9 讲诚实:基准脚本自己测错了路径,修正后数字更好看,但更重要的是口径终于干净。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这页讲方法论,也是这门课想展示的软实力:评测集是第一工具;数字如实——包括不利的历史值和口径事故;追踪矩阵让每个需求都能落到证据;任何人 clone 仓库一条命令复现全部数字。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收尾:左边是可验证的交付物清单,右边是诚实的技术债与计划。重点讲前两条:重排和语义向量评测是检索质量的上限空间,F1/F9 的修正正是为这两步铺路。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结束页停留:回顾五个关键数字。提问引导:检索质量上限(Cross-Encoder/语义向量)、完善轮的发现方法、运营成本模型,都是可以展开的话题。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98448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FA6FF"/>
                </a:solidFill>
                <a:latin typeface="微软雅黑"/>
                <a:ea typeface="微软雅黑"/>
              </a:rPr>
              <a:t>《软件体系结构》课程项目 · 2026 春季学期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00784"/>
            <a:ext cx="5257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800" b="1" i="0">
                <a:solidFill>
                  <a:srgbClr val="FFFFFF"/>
                </a:solidFill>
                <a:latin typeface="微软雅黑"/>
                <a:ea typeface="微软雅黑"/>
              </a:rPr>
              <a:t>智问校园</a:t>
            </a:r>
          </a:p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8FA6FF"/>
                </a:solidFill>
                <a:latin typeface="微软雅黑"/>
                <a:ea typeface="微软雅黑"/>
              </a:rPr>
              <a:t>CampusMind</a:t>
            </a:r>
          </a:p>
          <a:p>
            <a:pPr algn="l"/>
            <a:r>
              <a:rPr sz="1600" b="0" i="0">
                <a:solidFill>
                  <a:srgbClr val="A8B0C6"/>
                </a:solidFill>
                <a:latin typeface="微软雅黑"/>
                <a:ea typeface="微软雅黑"/>
              </a:rPr>
              <a:t>面向在校学生的校园事务智能问答系统 · AI +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混合检索 · RRF 融合 · 流式生成 · 引用溯源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24528"/>
            <a:ext cx="5257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A8B0C6"/>
                </a:solidFill>
                <a:latin typeface="微软雅黑"/>
                <a:ea typeface="微软雅黑"/>
              </a:rPr>
              <a:t>王若璋 · 何俐 · 郭祚梁 · 8 周交付</a:t>
            </a:r>
          </a:p>
          <a:p>
            <a:pPr algn="l"/>
            <a:r>
              <a:rPr sz="1300" b="0" i="0">
                <a:solidFill>
                  <a:srgbClr val="A8B0C6"/>
                </a:solidFill>
                <a:latin typeface="微软雅黑"/>
                <a:ea typeface="微软雅黑"/>
              </a:rPr>
              <a:t>2026-10 完善轮:9 项缺陷修复,证据可复现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FA6FF"/>
                </a:solidFill>
                <a:latin typeface="微软雅黑"/>
                <a:ea typeface="微软雅黑"/>
              </a:rPr>
              <a:t>github.com/yelikour/campus-qa(公开仓库)</a:t>
            </a:r>
          </a:p>
        </p:txBody>
      </p:sp>
      <p:pic>
        <p:nvPicPr>
          <p:cNvPr id="8" name="Picture 7" descr="ui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34440"/>
            <a:ext cx="5440680" cy="3401568"/>
          </a:xfrm>
          <a:prstGeom prst="rect">
            <a:avLst/>
          </a:prstGeom>
          <a:ln w="12700">
            <a:solidFill>
              <a:srgbClr val="27304A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263640" y="4864608"/>
            <a:ext cx="1737360" cy="868680"/>
          </a:xfrm>
          <a:prstGeom prst="roundRect">
            <a:avLst>
              <a:gd name="adj" fmla="val 5500"/>
            </a:avLst>
          </a:prstGeom>
          <a:solidFill>
            <a:srgbClr val="27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1655" y="4974336"/>
            <a:ext cx="1508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8FA6FF"/>
                </a:solidFill>
                <a:latin typeface="微软雅黑"/>
                <a:ea typeface="微软雅黑"/>
              </a:rPr>
              <a:t>62 条</a:t>
            </a:r>
          </a:p>
          <a:p>
            <a:pPr algn="l"/>
            <a:r>
              <a:rPr sz="1150" b="0" i="0">
                <a:solidFill>
                  <a:srgbClr val="A8B0C6"/>
                </a:solidFill>
                <a:latin typeface="微软雅黑"/>
                <a:ea typeface="微软雅黑"/>
              </a:rPr>
              <a:t>检索评测集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4864608"/>
            <a:ext cx="1737360" cy="868680"/>
          </a:xfrm>
          <a:prstGeom prst="roundRect">
            <a:avLst>
              <a:gd name="adj" fmla="val 5500"/>
            </a:avLst>
          </a:prstGeom>
          <a:solidFill>
            <a:srgbClr val="27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4974336"/>
            <a:ext cx="1508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8FA6FF"/>
                </a:solidFill>
                <a:latin typeface="微软雅黑"/>
                <a:ea typeface="微软雅黑"/>
              </a:rPr>
              <a:t>4 / 4</a:t>
            </a:r>
          </a:p>
          <a:p>
            <a:pPr algn="l"/>
            <a:r>
              <a:rPr sz="1150" b="0" i="0">
                <a:solidFill>
                  <a:srgbClr val="A8B0C6"/>
                </a:solidFill>
                <a:latin typeface="微软雅黑"/>
                <a:ea typeface="微软雅黑"/>
              </a:rPr>
              <a:t>架构验收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12680" y="4864608"/>
            <a:ext cx="1737360" cy="868680"/>
          </a:xfrm>
          <a:prstGeom prst="roundRect">
            <a:avLst>
              <a:gd name="adj" fmla="val 5500"/>
            </a:avLst>
          </a:prstGeom>
          <a:solidFill>
            <a:srgbClr val="27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0696" y="4974336"/>
            <a:ext cx="1508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8FA6FF"/>
                </a:solidFill>
                <a:latin typeface="微软雅黑"/>
                <a:ea typeface="微软雅黑"/>
              </a:rPr>
              <a:t>13 / 13</a:t>
            </a:r>
          </a:p>
          <a:p>
            <a:pPr algn="l"/>
            <a:r>
              <a:rPr sz="1150" b="0" i="0">
                <a:solidFill>
                  <a:srgbClr val="A8B0C6"/>
                </a:solidFill>
                <a:latin typeface="微软雅黑"/>
                <a:ea typeface="微软雅黑"/>
              </a:rPr>
              <a:t>单元测试通过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5BFD"/>
                </a:solidFill>
                <a:latin typeface="微软雅黑"/>
                <a:ea typeface="微软雅黑"/>
              </a:rPr>
              <a:t>问题与方案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C2333"/>
                </a:solidFill>
                <a:latin typeface="微软雅黑"/>
                <a:ea typeface="微软雅黑"/>
              </a:rPr>
              <a:t>校园事务信息的三堵墙,一套 RAG 系统拆掉它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智问校园 CampusMind · AI + RAG 校园智能问答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02 ·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81328"/>
            <a:ext cx="47091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1865376"/>
            <a:ext cx="512064" cy="512064"/>
          </a:xfrm>
          <a:prstGeom prst="ellipse">
            <a:avLst/>
          </a:prstGeom>
          <a:solidFill>
            <a:srgbClr val="E3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3B5BFD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C2333"/>
                </a:solidFill>
                <a:latin typeface="微软雅黑"/>
                <a:ea typeface="微软雅黑"/>
              </a:rPr>
              <a:t>信息分散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478"/>
                </a:solidFill>
                <a:latin typeface="微软雅黑"/>
                <a:ea typeface="微软雅黑"/>
              </a:rPr>
              <a:t>规章散落在官网、公众号、群里,新生无从找起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62656"/>
            <a:ext cx="47091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3346704"/>
            <a:ext cx="512064" cy="512064"/>
          </a:xfrm>
          <a:prstGeom prst="ellipse">
            <a:avLst/>
          </a:prstGeom>
          <a:solidFill>
            <a:srgbClr val="E3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3B5BFD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82112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C2333"/>
                </a:solidFill>
                <a:latin typeface="微软雅黑"/>
                <a:ea typeface="微软雅黑"/>
              </a:rPr>
              <a:t>口径不一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478"/>
                </a:solidFill>
                <a:latin typeface="微软雅黑"/>
                <a:ea typeface="微软雅黑"/>
              </a:rPr>
              <a:t>同学间口口相传,答案互相矛盾、时常过期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43984"/>
            <a:ext cx="47091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" y="4828032"/>
            <a:ext cx="512064" cy="512064"/>
          </a:xfrm>
          <a:prstGeom prst="ellipse">
            <a:avLst/>
          </a:prstGeom>
          <a:solidFill>
            <a:srgbClr val="E3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i="0">
                <a:solidFill>
                  <a:srgbClr val="3B5BFD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66344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C2333"/>
                </a:solidFill>
                <a:latin typeface="微软雅黑"/>
                <a:ea typeface="微软雅黑"/>
              </a:rPr>
              <a:t>不敢相信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478"/>
                </a:solidFill>
                <a:latin typeface="微软雅黑"/>
                <a:ea typeface="微软雅黑"/>
              </a:rPr>
              <a:t>通用 AI 缺校内语料,一本正经地编造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481328"/>
            <a:ext cx="5925312" cy="4407408"/>
          </a:xfrm>
          <a:prstGeom prst="roundRect">
            <a:avLst>
              <a:gd name="adj" fmla="val 55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170078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B5BFD"/>
                </a:solidFill>
                <a:latin typeface="微软雅黑"/>
                <a:ea typeface="微软雅黑"/>
              </a:rPr>
              <a:t>CampusMind 的答案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157984"/>
            <a:ext cx="544068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17920" y="2295144"/>
            <a:ext cx="457200" cy="457200"/>
          </a:xfrm>
          <a:prstGeom prst="ellipse">
            <a:avLst/>
          </a:prstGeom>
          <a:solidFill>
            <a:srgbClr val="3B5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26771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C2333"/>
                </a:solidFill>
                <a:latin typeface="微软雅黑"/>
                <a:ea typeface="微软雅黑"/>
              </a:rPr>
              <a:t>自然语言提问</a:t>
            </a:r>
          </a:p>
          <a:p>
            <a:pPr algn="l"/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口语化问法直接问,如「饭卡找不到了」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3017520"/>
            <a:ext cx="544068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7920" y="3154679"/>
            <a:ext cx="457200" cy="457200"/>
          </a:xfrm>
          <a:prstGeom prst="ellipse">
            <a:avLst/>
          </a:prstGeom>
          <a:solidFill>
            <a:srgbClr val="3B5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1272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C2333"/>
                </a:solidFill>
                <a:latin typeface="微软雅黑"/>
                <a:ea typeface="微软雅黑"/>
              </a:rPr>
              <a:t>混合检索</a:t>
            </a:r>
          </a:p>
          <a:p>
            <a:pPr algn="l"/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BM25 与向量双通道并行召回校内知识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3877056"/>
            <a:ext cx="544068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17920" y="4014216"/>
            <a:ext cx="457200" cy="457200"/>
          </a:xfrm>
          <a:prstGeom prst="ellipse">
            <a:avLst/>
          </a:prstGeom>
          <a:solidFill>
            <a:srgbClr val="3B5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98678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C2333"/>
                </a:solidFill>
                <a:latin typeface="微软雅黑"/>
                <a:ea typeface="微软雅黑"/>
              </a:rPr>
              <a:t>RRF 融合 + 质量门槛</a:t>
            </a:r>
          </a:p>
          <a:p>
            <a:pPr algn="l"/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对排名融合,免分数归一化;零交集即判无知识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53328" y="4736592"/>
            <a:ext cx="544068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17920" y="4873752"/>
            <a:ext cx="457200" cy="457200"/>
          </a:xfrm>
          <a:prstGeom prst="ellipse">
            <a:avLst/>
          </a:prstGeom>
          <a:solidFill>
            <a:srgbClr val="3B5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8463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C2333"/>
                </a:solidFill>
                <a:latin typeface="微软雅黑"/>
                <a:ea typeface="微软雅黑"/>
              </a:rPr>
              <a:t>流式生成 + 引用溯源</a:t>
            </a:r>
          </a:p>
          <a:p>
            <a:pPr algn="l"/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SSE 打字机输出,每条回答标注来源与双通道排名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53328" y="5541264"/>
            <a:ext cx="5440680" cy="310896"/>
          </a:xfrm>
          <a:prstGeom prst="roundRect">
            <a:avLst>
              <a:gd name="adj" fmla="val 50000"/>
            </a:avLst>
          </a:prstGeom>
          <a:solidFill>
            <a:srgbClr val="0E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无命中 → 诚实回退引导话术,不编造(sources = 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5BFD"/>
                </a:solidFill>
                <a:latin typeface="微软雅黑"/>
                <a:ea typeface="微软雅黑"/>
              </a:rP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C2333"/>
                </a:solidFill>
                <a:latin typeface="微软雅黑"/>
                <a:ea typeface="微软雅黑"/>
              </a:rPr>
              <a:t>五层分层 · 模块化单体起步,预留服务化边界(ADR-1)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智问校园 CampusMind · AI + RAG 校园智能问答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03 ·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17904"/>
            <a:ext cx="7223760" cy="786384"/>
          </a:xfrm>
          <a:prstGeom prst="roundRect">
            <a:avLst>
              <a:gd name="adj" fmla="val 55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45919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C2333"/>
                </a:solidFill>
                <a:latin typeface="微软雅黑"/>
                <a:ea typeface="微软雅黑"/>
              </a:rPr>
              <a:t>接入层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700784"/>
            <a:ext cx="5212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2333"/>
                </a:solidFill>
                <a:latin typeface="微软雅黑"/>
                <a:ea typeface="微软雅黑"/>
              </a:rPr>
              <a:t>原生 SPA · 聊天 / 知识库管理 / 运行看板 · SSE 流式渲染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32304"/>
            <a:ext cx="7223760" cy="786384"/>
          </a:xfrm>
          <a:prstGeom prst="roundRect">
            <a:avLst>
              <a:gd name="adj" fmla="val 55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60320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C2333"/>
                </a:solidFill>
                <a:latin typeface="微软雅黑"/>
                <a:ea typeface="微软雅黑"/>
              </a:rPr>
              <a:t>网关边界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615184"/>
            <a:ext cx="5212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2333"/>
                </a:solidFill>
                <a:latin typeface="微软雅黑"/>
                <a:ea typeface="微软雅黑"/>
              </a:rPr>
              <a:t>令牌桶限流 · ADMIN_TOKEN 鉴权 · CORS · 静态资源托管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46704"/>
            <a:ext cx="7223760" cy="786384"/>
          </a:xfrm>
          <a:prstGeom prst="roundRect">
            <a:avLst>
              <a:gd name="adj" fmla="val 5500"/>
            </a:avLst>
          </a:prstGeom>
          <a:solidFill>
            <a:srgbClr val="E3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474720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C2333"/>
                </a:solidFill>
                <a:latin typeface="微软雅黑"/>
                <a:ea typeface="微软雅黑"/>
              </a:rPr>
              <a:t>应用服务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529584"/>
            <a:ext cx="5212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2333"/>
                </a:solidFill>
                <a:latin typeface="微软雅黑"/>
                <a:ea typeface="微软雅黑"/>
              </a:rPr>
              <a:t>chat · knowledge · conversations · admin 四组 API 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61104"/>
            <a:ext cx="7223760" cy="786384"/>
          </a:xfrm>
          <a:prstGeom prst="roundRect">
            <a:avLst>
              <a:gd name="adj" fmla="val 5500"/>
            </a:avLst>
          </a:prstGeom>
          <a:solidFill>
            <a:srgbClr val="CBD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389120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C2333"/>
                </a:solidFill>
                <a:latin typeface="微软雅黑"/>
                <a:ea typeface="微软雅黑"/>
              </a:rPr>
              <a:t>RAG 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443984"/>
            <a:ext cx="5212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2333"/>
                </a:solidFill>
                <a:latin typeface="微软雅黑"/>
                <a:ea typeface="微软雅黑"/>
              </a:rPr>
              <a:t>BM25 倒排 · 向量通道 · RRF 融合 · 重排开关 · 生成 Provider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75504"/>
            <a:ext cx="7223760" cy="786384"/>
          </a:xfrm>
          <a:prstGeom prst="roundRect">
            <a:avLst>
              <a:gd name="adj" fmla="val 5500"/>
            </a:avLst>
          </a:prstGeom>
          <a:solidFill>
            <a:srgbClr val="B8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5303520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C2333"/>
                </a:solidFill>
                <a:latin typeface="微软雅黑"/>
                <a:ea typeface="微软雅黑"/>
              </a:rPr>
              <a:t>数据层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5358384"/>
            <a:ext cx="5212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2333"/>
                </a:solidFill>
                <a:latin typeface="微软雅黑"/>
                <a:ea typeface="微软雅黑"/>
              </a:rPr>
              <a:t>知识语料 JSON · SQLite 会话与查询日志 · 内存索引(热重建)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1517904"/>
            <a:ext cx="3730752" cy="44439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B5BFD"/>
                </a:solidFill>
                <a:latin typeface="微软雅黑"/>
                <a:ea typeface="微软雅黑"/>
              </a:rPr>
              <a:t>关键架构决策(ADR)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176272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 i="0">
                <a:solidFill>
                  <a:srgbClr val="3B5BFD"/>
                </a:solidFill>
                <a:latin typeface="微软雅黑"/>
                <a:ea typeface="微软雅黑"/>
              </a:rPr>
              <a:t>ADR-1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2139696"/>
            <a:ext cx="248716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模块化单体起步,按 api/services/repository/core 分包,预留服务化拆分边界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10896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 i="0">
                <a:solidFill>
                  <a:srgbClr val="3B5BFD"/>
                </a:solidFill>
                <a:latin typeface="微软雅黑"/>
                <a:ea typeface="微软雅黑"/>
              </a:rPr>
              <a:t>ADR-2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072384"/>
            <a:ext cx="248716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混合检索 + RRF 融合,对排名而非分数融合,免归一化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404164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 i="0">
                <a:solidFill>
                  <a:srgbClr val="3B5BFD"/>
                </a:solidFill>
                <a:latin typeface="微软雅黑"/>
                <a:ea typeface="微软雅黑"/>
              </a:rPr>
              <a:t>ADR-4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4005072"/>
            <a:ext cx="248716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生成/向量双端 Provider 插件化,云端异常自动熔断降级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4974336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 i="0">
                <a:solidFill>
                  <a:srgbClr val="3B5BFD"/>
                </a:solidFill>
                <a:latin typeface="微软雅黑"/>
                <a:ea typeface="微软雅黑"/>
              </a:rPr>
              <a:t>ADR-5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5712" y="4937759"/>
            <a:ext cx="248716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内存索引热重建,知识增删免重启即生效(版本递增)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5BFD"/>
                </a:solidFill>
                <a:latin typeface="微软雅黑"/>
                <a:ea typeface="微软雅黑"/>
              </a:rPr>
              <a:t>核心链路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C2333"/>
                </a:solidFill>
                <a:latin typeface="微软雅黑"/>
                <a:ea typeface="微软雅黑"/>
              </a:rPr>
              <a:t>一条提问的完整旅程:检索、融合、生成、溯源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智问校园 CampusMind · AI + RAG 校园智能问答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04 · 17</a:t>
            </a:r>
          </a:p>
        </p:txBody>
      </p:sp>
      <p:sp>
        <p:nvSpPr>
          <p:cNvPr id="7" name="Chevron 6"/>
          <p:cNvSpPr/>
          <p:nvPr/>
        </p:nvSpPr>
        <p:spPr>
          <a:xfrm>
            <a:off x="457200" y="1572768"/>
            <a:ext cx="1901952" cy="932688"/>
          </a:xfrm>
          <a:prstGeom prst="chevron">
            <a:avLst>
              <a:gd name="adj" fmla="val 28000"/>
            </a:avLst>
          </a:prstGeom>
          <a:solidFill>
            <a:srgbClr val="E3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450" b="1" i="0">
                <a:solidFill>
                  <a:srgbClr val="1C2333"/>
                </a:solidFill>
                <a:latin typeface="微软雅黑"/>
                <a:ea typeface="微软雅黑"/>
              </a:rPr>
              <a:t>提问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633472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A6478"/>
                </a:solidFill>
                <a:latin typeface="微软雅黑"/>
                <a:ea typeface="微软雅黑"/>
              </a:rPr>
              <a:t>≤500 字
口语化问法</a:t>
            </a:r>
          </a:p>
        </p:txBody>
      </p:sp>
      <p:sp>
        <p:nvSpPr>
          <p:cNvPr id="9" name="Chevron 8"/>
          <p:cNvSpPr/>
          <p:nvPr/>
        </p:nvSpPr>
        <p:spPr>
          <a:xfrm>
            <a:off x="2327148" y="1572768"/>
            <a:ext cx="1901952" cy="932688"/>
          </a:xfrm>
          <a:prstGeom prst="chevron">
            <a:avLst>
              <a:gd name="adj" fmla="val 28000"/>
            </a:avLst>
          </a:prstGeom>
          <a:solidFill>
            <a:srgbClr val="3B5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双通道检索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3452" y="2633472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A6478"/>
                </a:solidFill>
                <a:latin typeface="微软雅黑"/>
                <a:ea typeface="微软雅黑"/>
              </a:rPr>
              <a:t>BM25 top20
∥ 向量 top20</a:t>
            </a:r>
          </a:p>
        </p:txBody>
      </p:sp>
      <p:sp>
        <p:nvSpPr>
          <p:cNvPr id="11" name="Chevron 10"/>
          <p:cNvSpPr/>
          <p:nvPr/>
        </p:nvSpPr>
        <p:spPr>
          <a:xfrm>
            <a:off x="4197096" y="1572768"/>
            <a:ext cx="1901952" cy="932688"/>
          </a:xfrm>
          <a:prstGeom prst="chevron">
            <a:avLst>
              <a:gd name="adj" fmla="val 28000"/>
            </a:avLst>
          </a:prstGeom>
          <a:solidFill>
            <a:srgbClr val="3B5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RRF 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633472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A6478"/>
                </a:solidFill>
                <a:latin typeface="微软雅黑"/>
                <a:ea typeface="微软雅黑"/>
              </a:rPr>
              <a:t>Σ1/(k+rank)
k=60 对排名融合</a:t>
            </a:r>
          </a:p>
        </p:txBody>
      </p:sp>
      <p:sp>
        <p:nvSpPr>
          <p:cNvPr id="13" name="Chevron 12"/>
          <p:cNvSpPr/>
          <p:nvPr/>
        </p:nvSpPr>
        <p:spPr>
          <a:xfrm>
            <a:off x="6067044" y="1572768"/>
            <a:ext cx="1901952" cy="932688"/>
          </a:xfrm>
          <a:prstGeom prst="chevron">
            <a:avLst>
              <a:gd name="adj" fmla="val 28000"/>
            </a:avLst>
          </a:prstGeom>
          <a:solidFill>
            <a:srgbClr val="E3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450" b="1" i="0">
                <a:solidFill>
                  <a:srgbClr val="1C2333"/>
                </a:solidFill>
                <a:latin typeface="微软雅黑"/>
                <a:ea typeface="微软雅黑"/>
              </a:rPr>
              <a:t>重排(实验)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3348" y="2633472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A6478"/>
                </a:solidFill>
                <a:latin typeface="微软雅黑"/>
                <a:ea typeface="微软雅黑"/>
              </a:rPr>
              <a:t>RERANK_ENABLED
默认关·实测无收益</a:t>
            </a:r>
          </a:p>
        </p:txBody>
      </p:sp>
      <p:sp>
        <p:nvSpPr>
          <p:cNvPr id="15" name="Chevron 14"/>
          <p:cNvSpPr/>
          <p:nvPr/>
        </p:nvSpPr>
        <p:spPr>
          <a:xfrm>
            <a:off x="7936992" y="1572768"/>
            <a:ext cx="1901952" cy="932688"/>
          </a:xfrm>
          <a:prstGeom prst="chevron">
            <a:avLst>
              <a:gd name="adj" fmla="val 28000"/>
            </a:avLst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450" b="1" i="0">
                <a:solidFill>
                  <a:srgbClr val="FFFFFF"/>
                </a:solidFill>
                <a:latin typeface="微软雅黑"/>
                <a:ea typeface="微软雅黑"/>
              </a:rPr>
              <a:t>SSE 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2633472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A6478"/>
                </a:solidFill>
                <a:latin typeface="微软雅黑"/>
                <a:ea typeface="微软雅黑"/>
              </a:rPr>
              <a:t>meta 先推引用
打字机式输出</a:t>
            </a:r>
          </a:p>
        </p:txBody>
      </p:sp>
      <p:sp>
        <p:nvSpPr>
          <p:cNvPr id="17" name="Chevron 16"/>
          <p:cNvSpPr/>
          <p:nvPr/>
        </p:nvSpPr>
        <p:spPr>
          <a:xfrm>
            <a:off x="9806940" y="1572768"/>
            <a:ext cx="1901952" cy="932688"/>
          </a:xfrm>
          <a:prstGeom prst="chevron">
            <a:avLst>
              <a:gd name="adj" fmla="val 28000"/>
            </a:avLst>
          </a:prstGeom>
          <a:solidFill>
            <a:srgbClr val="E3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450" b="1" i="0">
                <a:solidFill>
                  <a:srgbClr val="1C2333"/>
                </a:solidFill>
                <a:latin typeface="微软雅黑"/>
                <a:ea typeface="微软雅黑"/>
              </a:rPr>
              <a:t>引用溯源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3244" y="2633472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A6478"/>
                </a:solidFill>
                <a:latin typeface="微软雅黑"/>
                <a:ea typeface="微软雅黑"/>
              </a:rPr>
              <a:t>来源+BM25/VEC
双通道排名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80"/>
            <a:ext cx="369417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749039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3B5BFD"/>
                </a:solidFill>
                <a:latin typeface="微软雅黑"/>
                <a:ea typeface="微软雅黑"/>
              </a:rPr>
              <a:t>检索快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p50 1.1–1.9ms(修正口径实测)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611880"/>
            <a:ext cx="369417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3749039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3B5BFD"/>
                </a:solidFill>
                <a:latin typeface="微软雅黑"/>
                <a:ea typeface="微软雅黑"/>
              </a:rPr>
              <a:t>首字快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meta 事件先推引用来源,边生成边展示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611880"/>
            <a:ext cx="369417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3749039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3B5BFD"/>
                </a:solidFill>
                <a:latin typeface="微软雅黑"/>
                <a:ea typeface="微软雅黑"/>
              </a:rPr>
              <a:t>可开关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重排与生成 Provider 均为运行时配置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773168"/>
            <a:ext cx="11274552" cy="1389888"/>
          </a:xfrm>
          <a:prstGeom prst="roundRect">
            <a:avLst>
              <a:gd name="adj" fmla="val 55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956048"/>
            <a:ext cx="107899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C2333"/>
                </a:solidFill>
                <a:latin typeface="微软雅黑"/>
                <a:ea typeface="微软雅黑"/>
              </a:rPr>
              <a:t>兜底路径(可信性底线):全部候选与查询实质词零交集 → 判定无相关知识 → 返回引导话术,不带任何引用来源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口径:文档级去重(q/a 双通道 chunk 不重复占位)· 全有或全无门槛 MIN_RELEVANCE=0.08(62 条评测标定:0.15 误杀口语化正解,0.06 放入无关命中)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5BFD"/>
                </a:solidFill>
                <a:latin typeface="微软雅黑"/>
                <a:ea typeface="微软雅黑"/>
              </a:rPr>
              <a:t>检索引擎 · 双通道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C2333"/>
                </a:solidFill>
                <a:latin typeface="微软雅黑"/>
                <a:ea typeface="微软雅黑"/>
              </a:rPr>
              <a:t>稀疏管精确,稠密管语义,RRF 只融合排名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智问校园 CampusMind · AI + RAG 校园智能问答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05 ·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81328"/>
            <a:ext cx="5486400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8249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2333"/>
                </a:solidFill>
                <a:latin typeface="微软雅黑"/>
                <a:ea typeface="微软雅黑"/>
              </a:rPr>
              <a:t>BM25 · 稀疏通道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0" i="0">
                <a:solidFill>
                  <a:srgbClr val="5A6478"/>
                </a:solidFill>
                <a:latin typeface="微软雅黑"/>
                <a:ea typeface="微软雅黑"/>
              </a:rPr>
              <a:t>jieba 分词 + 自实现 BM25(k1=1.5 / b=0.75)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0" i="0">
                <a:solidFill>
                  <a:srgbClr val="5A6478"/>
                </a:solidFill>
                <a:latin typeface="微软雅黑"/>
                <a:ea typeface="微软雅黑"/>
              </a:rPr>
              <a:t>倒排索引:查询只访问命中词的倒排链,不做全量扫描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A6478"/>
                </a:solidFill>
                <a:latin typeface="微软雅黑"/>
                <a:ea typeface="微软雅黑"/>
              </a:rPr>
              <a:t>关键词密集的规章问题表现最好:Hit@1 80.6%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50208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3B5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Hit@1  80.6%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481328"/>
            <a:ext cx="5486400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68249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2333"/>
                </a:solidFill>
                <a:latin typeface="微软雅黑"/>
                <a:ea typeface="微软雅黑"/>
              </a:rPr>
              <a:t>向量 · 稠密通道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121408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0" i="0">
                <a:solidFill>
                  <a:srgbClr val="5A6478"/>
                </a:solidFill>
                <a:latin typeface="微软雅黑"/>
                <a:ea typeface="微软雅黑"/>
              </a:rPr>
              <a:t>演示环境:TF-IDF 加权词袋(离线零依赖,如实标注「非语义嵌入」)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50" b="0" i="0">
                <a:solidFill>
                  <a:srgbClr val="5A6478"/>
                </a:solidFill>
                <a:latin typeface="微软雅黑"/>
                <a:ea typeface="微软雅黑"/>
              </a:rPr>
              <a:t>生产切换:智谱 embedding-3,配置 ZHIPUAI_API_KEY 即启用,接口不变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A6478"/>
                </a:solidFill>
                <a:latin typeface="微软雅黑"/>
                <a:ea typeface="微软雅黑"/>
              </a:rPr>
              <a:t>提供与词面不同的第二视角,补充口语改写召回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9672" y="3950208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Hit@1  75.8%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00016"/>
            <a:ext cx="11274552" cy="1463040"/>
          </a:xfrm>
          <a:prstGeom prst="roundRect">
            <a:avLst>
              <a:gd name="adj" fmla="val 55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82896"/>
            <a:ext cx="10789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3B5BFD"/>
                </a:solidFill>
                <a:latin typeface="微软雅黑"/>
                <a:ea typeface="微软雅黑"/>
              </a:rPr>
              <a:t>融合与质量控制:为什么用 RRF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对「排名」而非原始分数融合,天然免两通道分数归一化;同文档双通道 chunk 只保留最高分一条(文档级去重),避免挤占其它文档名额——该缺陷正是 62 条评测暴露并修复的真实问题。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5BFD"/>
                </a:solidFill>
                <a:latin typeface="微软雅黑"/>
                <a:ea typeface="微软雅黑"/>
              </a:rPr>
              <a:t>生成与向量 · Provider 插件化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C2333"/>
                </a:solidFill>
                <a:latin typeface="微软雅黑"/>
                <a:ea typeface="微软雅黑"/>
              </a:rPr>
              <a:t>同类可替换:无 Key 离线可跑,有 Key 一键上云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智问校园 CampusMind · AI + RAG 校园智能问答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06 ·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81328"/>
            <a:ext cx="5486400" cy="31272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8249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2333"/>
                </a:solidFill>
                <a:latin typeface="微软雅黑"/>
                <a:ea typeface="微软雅黑"/>
              </a:rPr>
              <a:t>生成 Generator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39696"/>
            <a:ext cx="4937760" cy="896112"/>
          </a:xfrm>
          <a:prstGeom prst="roundRect">
            <a:avLst>
              <a:gd name="adj" fmla="val 55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58568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3B5BFD"/>
                </a:solidFill>
                <a:latin typeface="微软雅黑"/>
                <a:ea typeface="微软雅黑"/>
              </a:rPr>
              <a:t>本地抽取式(默认)</a:t>
            </a:r>
          </a:p>
          <a:p>
            <a:pPr algn="l"/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离线零依赖 · 抽取式合成 · 降级兜底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63824"/>
            <a:ext cx="4937760" cy="896112"/>
          </a:xfrm>
          <a:prstGeom prst="roundRect">
            <a:avLst>
              <a:gd name="adj" fmla="val 55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282696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微软雅黑"/>
                <a:ea typeface="微软雅黑"/>
              </a:rPr>
              <a:t>智谱 GLM(云端)</a:t>
            </a:r>
          </a:p>
          <a:p>
            <a:pPr algn="l"/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流式生成 · 带引用上下文提示词 · 温度 0.3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2452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78"/>
                </a:solidFill>
                <a:latin typeface="微软雅黑"/>
                <a:ea typeface="微软雅黑"/>
              </a:rPr>
              <a:t>自动回退:云端超时/故障 → 流内自动回退本地,降级原因落日志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481328"/>
            <a:ext cx="5486400" cy="31272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68249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2333"/>
                </a:solidFill>
                <a:latin typeface="微软雅黑"/>
                <a:ea typeface="微软雅黑"/>
              </a:rPr>
              <a:t>向量 Embedding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9672" y="2139696"/>
            <a:ext cx="4937760" cy="896112"/>
          </a:xfrm>
          <a:prstGeom prst="roundRect">
            <a:avLst>
              <a:gd name="adj" fmla="val 55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58568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3B5BFD"/>
                </a:solidFill>
                <a:latin typeface="微软雅黑"/>
                <a:ea typeface="微软雅黑"/>
              </a:rPr>
              <a:t>TF-IDF 词袋(默认)</a:t>
            </a:r>
          </a:p>
          <a:p>
            <a:pPr algn="l"/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离线 fallback · 前端如实显示 provider 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9672" y="3163824"/>
            <a:ext cx="4937760" cy="896112"/>
          </a:xfrm>
          <a:prstGeom prst="roundRect">
            <a:avLst>
              <a:gd name="adj" fmla="val 55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282696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微软雅黑"/>
                <a:ea typeface="微软雅黑"/>
              </a:rPr>
              <a:t>智谱 embedding-3(云端)</a:t>
            </a:r>
          </a:p>
          <a:p>
            <a:pPr algn="l"/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真语义向量 · 内存缓存避免重复嵌入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22452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478"/>
                </a:solidFill>
                <a:latin typeface="微软雅黑"/>
                <a:ea typeface="微软雅黑"/>
              </a:rPr>
              <a:t>自动回退:构建失败(网络/配额) → 回退 TF-IDF,检索始终可用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28032"/>
            <a:ext cx="11274552" cy="1325880"/>
          </a:xfrm>
          <a:prstGeom prst="roundRect">
            <a:avLst>
              <a:gd name="adj" fmla="val 55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10912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3B5BFD"/>
                </a:solidFill>
                <a:latin typeface="微软雅黑"/>
                <a:ea typeface="微软雅黑"/>
              </a:rPr>
              <a:t>可观察性:引擎信息不藏着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前端顶栏与运行看板实时显示当前 LLM Provider / 向量 Provider / 索引版本——用户永远知道回答由哪个引擎生成、向量是不是语义嵌入。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5BFD"/>
                </a:solidFill>
                <a:latin typeface="微软雅黑"/>
                <a:ea typeface="微软雅黑"/>
              </a:rPr>
              <a:t>产品一览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C2333"/>
                </a:solidFill>
                <a:latin typeface="微软雅黑"/>
                <a:ea typeface="微软雅黑"/>
              </a:rPr>
              <a:t>三个视图:问答、知识库治理、运行看板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智问校园 CampusMind · AI + RAG 校园智能问答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07 · 17</a:t>
            </a:r>
          </a:p>
        </p:txBody>
      </p:sp>
      <p:pic>
        <p:nvPicPr>
          <p:cNvPr id="7" name="Picture 6" descr="ui_chat_ci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4572000"/>
          </a:xfrm>
          <a:prstGeom prst="rect">
            <a:avLst/>
          </a:prstGeom>
          <a:ln w="12700">
            <a:solidFill>
              <a:srgbClr val="E5E9F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61081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智能问答:回答下方即引用卡片——来源、BM25/VEC 双通道排名、融合分数、检索耗时</a:t>
            </a:r>
          </a:p>
        </p:txBody>
      </p:sp>
      <p:pic>
        <p:nvPicPr>
          <p:cNvPr id="9" name="Picture 8" descr="ui_knowle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481328"/>
            <a:ext cx="3776472" cy="2359152"/>
          </a:xfrm>
          <a:prstGeom prst="rect">
            <a:avLst/>
          </a:prstGeom>
          <a:ln w="12700">
            <a:solidFill>
              <a:srgbClr val="E5E9F2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973568" y="3456432"/>
            <a:ext cx="2487168" cy="310896"/>
          </a:xfrm>
          <a:prstGeom prst="roundRect">
            <a:avLst>
              <a:gd name="adj" fmla="val 50000"/>
            </a:avLst>
          </a:prstGeom>
          <a:solidFill>
            <a:srgbClr val="1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83296" y="3483864"/>
            <a:ext cx="2331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</a:rPr>
              <a:t>知识库管理 · 录入即热更新</a:t>
            </a:r>
          </a:p>
        </p:txBody>
      </p:sp>
      <p:pic>
        <p:nvPicPr>
          <p:cNvPr id="12" name="Picture 11" descr="ui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3877056"/>
            <a:ext cx="3776472" cy="2359152"/>
          </a:xfrm>
          <a:prstGeom prst="rect">
            <a:avLst/>
          </a:prstGeom>
          <a:ln w="12700">
            <a:solidFill>
              <a:srgbClr val="E5E9F2"/>
            </a:solidFill>
          </a:ln>
        </p:spPr>
      </p:pic>
      <p:sp>
        <p:nvSpPr>
          <p:cNvPr id="13" name="Rounded Rectangle 12"/>
          <p:cNvSpPr/>
          <p:nvPr/>
        </p:nvSpPr>
        <p:spPr>
          <a:xfrm>
            <a:off x="7973568" y="5852160"/>
            <a:ext cx="2487168" cy="310896"/>
          </a:xfrm>
          <a:prstGeom prst="roundRect">
            <a:avLst>
              <a:gd name="adj" fmla="val 50000"/>
            </a:avLst>
          </a:prstGeom>
          <a:solidFill>
            <a:srgbClr val="1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3296" y="5879592"/>
            <a:ext cx="2331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</a:rPr>
              <a:t>运行看板 · 命中率/时延实时刷新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5BFD"/>
                </a:solidFill>
                <a:latin typeface="微软雅黑"/>
                <a:ea typeface="微软雅黑"/>
              </a:rPr>
              <a:t>安全与稳定性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C2333"/>
                </a:solidFill>
                <a:latin typeface="微软雅黑"/>
                <a:ea typeface="微软雅黑"/>
              </a:rPr>
              <a:t>四道防线:从入口到内容逐层设防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智问校园 CampusMind · AI + RAG 校园智能问答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08 ·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81328"/>
            <a:ext cx="11274552" cy="11155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6656" y="1783080"/>
            <a:ext cx="512064" cy="512064"/>
          </a:xfrm>
          <a:prstGeom prst="ellipse">
            <a:avLst/>
          </a:prstGeom>
          <a:solidFill>
            <a:srgbClr val="3B5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64592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2333"/>
                </a:solidFill>
                <a:latin typeface="微软雅黑"/>
                <a:ea typeface="微软雅黑"/>
              </a:rPr>
              <a:t>入口限流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627632"/>
            <a:ext cx="6035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令牌桶 5 QPS / 突发 10,按用户隔离;桶字典有界(≤1 万,最久未活跃淘汰),伪造 token 无法耗尽内存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1810512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E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200×10+429×5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06624"/>
            <a:ext cx="11274552" cy="11155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6656" y="3008376"/>
            <a:ext cx="512064" cy="512064"/>
          </a:xfrm>
          <a:prstGeom prst="ellipse">
            <a:avLst/>
          </a:prstGeom>
          <a:solidFill>
            <a:srgbClr val="3B5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871216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2333"/>
                </a:solidFill>
                <a:latin typeface="微软雅黑"/>
                <a:ea typeface="微软雅黑"/>
              </a:rPr>
              <a:t>熔断降级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52928"/>
            <a:ext cx="6035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云端 GLM 异常 → 流内回退本地抽取式生成;降级原因落日志,频率/超时/网络/鉴权可归因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3035808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E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139字·不中断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11274552" cy="11155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6656" y="4233672"/>
            <a:ext cx="512064" cy="512064"/>
          </a:xfrm>
          <a:prstGeom prst="ellipse">
            <a:avLst/>
          </a:prstGeom>
          <a:solidFill>
            <a:srgbClr val="0E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096511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2333"/>
                </a:solidFill>
                <a:latin typeface="微软雅黑"/>
                <a:ea typeface="微软雅黑"/>
              </a:rPr>
              <a:t>溯源兜底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078224"/>
            <a:ext cx="6035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回答强制携带引用来源;全有或全无门槛——最佳分低于阈值即判无知识,返回引导话术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4261104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E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sources=0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57216"/>
            <a:ext cx="11274552" cy="11155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6656" y="5458968"/>
            <a:ext cx="512064" cy="512064"/>
          </a:xfrm>
          <a:prstGeom prst="ellipse">
            <a:avLst/>
          </a:prstGeom>
          <a:solidFill>
            <a:srgbClr val="0E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5321807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2333"/>
                </a:solidFill>
                <a:latin typeface="微软雅黑"/>
                <a:ea typeface="微软雅黑"/>
              </a:rPr>
              <a:t>写接口安全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303520"/>
            <a:ext cx="6035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知识库写接口可选 ADMIN_TOKEN 鉴权;前端三处输出全量转义,封死存储型 XSS 注入链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548640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E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401 拦截写入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5BFD"/>
                </a:solidFill>
                <a:latin typeface="微软雅黑"/>
                <a:ea typeface="微软雅黑"/>
              </a:rPr>
              <a:t>质量证据 · 检索评测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C2333"/>
                </a:solidFill>
                <a:latin typeface="微软雅黑"/>
                <a:ea typeface="微软雅黑"/>
              </a:rPr>
              <a:t>62 条口语化改写 × 四条链路,统一文档级去重口径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智问校园 CampusMind · AI + RAG 校园智能问答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09 · 17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517904"/>
          <a:ext cx="69037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517904"/>
            <a:ext cx="4096512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71907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3B5BFD"/>
                </a:solidFill>
                <a:latin typeface="微软雅黑"/>
                <a:ea typeface="微软雅黑"/>
              </a:rPr>
              <a:t>结论(如实)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57984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C2333"/>
                </a:solidFill>
                <a:latin typeface="微软雅黑"/>
                <a:ea typeface="微软雅黑"/>
              </a:rPr>
              <a:t>BM25 最稳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关键词密集的规章问题上表现最好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072384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C2333"/>
                </a:solidFill>
                <a:latin typeface="微软雅黑"/>
                <a:ea typeface="微软雅黑"/>
              </a:rPr>
              <a:t>向量是补充视角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TF-IDF 词袋未稳定超过 BM25,材料如实标注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986783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C2333"/>
                </a:solidFill>
                <a:latin typeface="微软雅黑"/>
                <a:ea typeface="微软雅黑"/>
              </a:rPr>
              <a:t>RRF 为生产默认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融合收益在口语改写场景体现,链路最简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901183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C2333"/>
                </a:solidFill>
                <a:latin typeface="微软雅黑"/>
                <a:ea typeface="微软雅黑"/>
              </a:rPr>
              <a:t>轻量重排无收益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词面特征重排默认关闭,留待 Cross-Encoder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来源:scripts/eval_matrix.py · n=62 口语化同义改写 · 2026-10-16 实测 · 语料 59 篇 / 136 chunks · 允许 ±1.6pp 运行间波动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5BFD"/>
                </a:solidFill>
                <a:latin typeface="微软雅黑"/>
                <a:ea typeface="微软雅黑"/>
              </a:rPr>
              <a:t>质量证据 · 性能基准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C2333"/>
                </a:solidFill>
                <a:latin typeface="微软雅黑"/>
                <a:ea typeface="微软雅黑"/>
              </a:rPr>
              <a:t>检索快到不是瓶颈,生成端吞吐 44 QPS 零失败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智问校园 CampusMind · AI + RAG 校园智能问答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10 ·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81328"/>
            <a:ext cx="3657600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27632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3B5BFD"/>
                </a:solidFill>
                <a:latin typeface="微软雅黑"/>
                <a:ea typeface="微软雅黑"/>
              </a:rPr>
              <a:t>880  QPS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95728"/>
            <a:ext cx="3200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retrieval-only · RRF 生产链路(修正口径实测,515.8–880.4)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481328"/>
            <a:ext cx="3657600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627632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7C4DFF"/>
                </a:solidFill>
                <a:latin typeface="微软雅黑"/>
                <a:ea typeface="微软雅黑"/>
              </a:rPr>
              <a:t>44  QPS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395728"/>
            <a:ext cx="3200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local-extractive E2E(并发 20,含生成+落库)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81328"/>
            <a:ext cx="3657600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627632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9A57"/>
                </a:solidFill>
                <a:latin typeface="微软雅黑"/>
                <a:ea typeface="微软雅黑"/>
              </a:rPr>
              <a:t>0  失败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395728"/>
            <a:ext cx="3200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retrieval 300 样本 + E2E 200 样本,全部成功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4670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C2333"/>
                </a:solidFill>
                <a:latin typeface="微软雅黑"/>
                <a:ea typeface="微软雅黑"/>
              </a:rPr>
              <a:t>retrieval-only(RRF)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364992"/>
            <a:ext cx="910045" cy="310896"/>
          </a:xfrm>
          <a:prstGeom prst="roundRect">
            <a:avLst>
              <a:gd name="adj" fmla="val 50000"/>
            </a:avLst>
          </a:prstGeom>
          <a:solidFill>
            <a:srgbClr val="3B5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3325" y="3364992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33"/>
                </a:solidFill>
                <a:latin typeface="微软雅黑"/>
                <a:ea typeface="微软雅黑"/>
              </a:rPr>
              <a:t>p50 1.1ms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364992"/>
            <a:ext cx="1489165" cy="310896"/>
          </a:xfrm>
          <a:prstGeom prst="roundRect">
            <a:avLst>
              <a:gd name="adj" fmla="val 50000"/>
            </a:avLst>
          </a:prstGeom>
          <a:solidFill>
            <a:srgbClr val="3B5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7085" y="3364992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33"/>
                </a:solidFill>
                <a:latin typeface="微软雅黑"/>
                <a:ea typeface="微软雅黑"/>
              </a:rPr>
              <a:t>p95 1.8ms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336499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B5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3364992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33"/>
                </a:solidFill>
                <a:latin typeface="微软雅黑"/>
                <a:ea typeface="微软雅黑"/>
              </a:rPr>
              <a:t>p99 2.1ms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1363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C2333"/>
                </a:solidFill>
                <a:latin typeface="微软雅黑"/>
                <a:ea typeface="微软雅黑"/>
              </a:rPr>
              <a:t>E2E 并发 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3931920"/>
            <a:ext cx="970273" cy="310896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3553" y="3931920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33"/>
                </a:solidFill>
                <a:latin typeface="微软雅黑"/>
                <a:ea typeface="微软雅黑"/>
              </a:rPr>
              <a:t>p50 425ms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931920"/>
            <a:ext cx="1431438" cy="310896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49358" y="3931920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33"/>
                </a:solidFill>
                <a:latin typeface="微软雅黑"/>
                <a:ea typeface="微软雅黑"/>
              </a:rPr>
              <a:t>p95 627ms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39319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0" y="3931920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333"/>
                </a:solidFill>
                <a:latin typeface="微软雅黑"/>
                <a:ea typeface="微软雅黑"/>
              </a:rPr>
              <a:t>p99 761ms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617720"/>
            <a:ext cx="11274552" cy="1481328"/>
          </a:xfrm>
          <a:prstGeom prst="roundRect">
            <a:avLst>
              <a:gd name="adj" fmla="val 55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00600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3B5BFD"/>
                </a:solidFill>
                <a:latin typeface="微软雅黑"/>
                <a:ea typeface="微软雅黑"/>
              </a:rPr>
              <a:t>口径如实的代价与修正(F9,完善轮)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bench.py 此前误测重排实验路径却标注「默认链路」——2026-09-18 的 251.4 QPS 实为重排路径数值。完善轮修正口径后按生产 RRF 链路实测 515.8–880.4 QPS / p50 1.1–1.9ms;历史值保留并标注口径演变,不删改。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来源:scripts/bench.py · Win/x64 · 2026-10-16 · 历史值 macOS/arm64 2026-09-18(重排口径)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5BFD"/>
                </a:solidFill>
                <a:latin typeface="微软雅黑"/>
                <a:ea typeface="微软雅黑"/>
              </a:rPr>
              <a:t>质量证据 · 架构验收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C2333"/>
                </a:solidFill>
                <a:latin typeface="微软雅黑"/>
                <a:ea typeface="微软雅黑"/>
              </a:rPr>
              <a:t>四个最像「翻车现场」的场景,4/4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智问校园 CampusMind · AI + RAG 校园智能问答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11 ·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81328"/>
            <a:ext cx="5486400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C2333"/>
                </a:solidFill>
                <a:latin typeface="微软雅黑"/>
                <a:ea typeface="微软雅黑"/>
              </a:rPr>
              <a:t>A1 生成降级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682496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3969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5BFD"/>
                </a:solidFill>
                <a:latin typeface="微软雅黑"/>
                <a:ea typeface="微软雅黑"/>
              </a:rPr>
              <a:t>场景:云端 GLM 配置无效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4"/>
            <a:ext cx="4983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证据:流内自动回退本地抽取式,产出 139 字含正解关键信息,服务不中断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481328"/>
            <a:ext cx="5486400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66420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C2333"/>
                </a:solidFill>
                <a:latin typeface="微软雅黑"/>
                <a:ea typeface="微软雅黑"/>
              </a:rPr>
              <a:t>A2 入口限流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97312" y="1682496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139696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5BFD"/>
                </a:solidFill>
                <a:latin typeface="微软雅黑"/>
                <a:ea typeface="微软雅黑"/>
              </a:rPr>
              <a:t>场景:单用户并发突发 15 请求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523744"/>
            <a:ext cx="4983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证据:令牌桶精确放行 10、拒绝 5:200×10 + 429×5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77056"/>
            <a:ext cx="5486400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59936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C2333"/>
                </a:solidFill>
                <a:latin typeface="微软雅黑"/>
                <a:ea typeface="微软雅黑"/>
              </a:rPr>
              <a:t>A3 知识热更新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4078224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3542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5BFD"/>
                </a:solidFill>
                <a:latin typeface="微软雅黑"/>
                <a:ea typeface="微软雅黑"/>
              </a:rPr>
              <a:t>场景:验收中新增知识条目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19472"/>
            <a:ext cx="4983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证据:免重启即时检索命中并正确回答,索引版本 1→2 递增,验后自动清理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3877056"/>
            <a:ext cx="5486400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4059936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C2333"/>
                </a:solidFill>
                <a:latin typeface="微软雅黑"/>
                <a:ea typeface="微软雅黑"/>
              </a:rPr>
              <a:t>A4 无知识兜底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97312" y="4078224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453542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5BFD"/>
                </a:solidFill>
                <a:latin typeface="微软雅黑"/>
                <a:ea typeface="微软雅黑"/>
              </a:rPr>
              <a:t>场景:提问知识库完全无关的问题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4919472"/>
            <a:ext cx="4983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证据:sources=0,返回引导话术,不编造任何事实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5BFD"/>
                </a:solidFill>
                <a:latin typeface="微软雅黑"/>
                <a:ea typeface="微软雅黑"/>
              </a:rPr>
              <a:t>2026-10 完善轮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C2333"/>
                </a:solidFill>
                <a:latin typeface="微软雅黑"/>
                <a:ea typeface="微软雅黑"/>
              </a:rPr>
              <a:t>独立二轮调研:9 项真实缺陷,全部修复并验证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智问校园 CampusMind · AI + RAG 校园智能问答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12 ·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A6478"/>
                </a:solidFill>
                <a:latin typeface="微软雅黑"/>
                <a:ea typeface="微软雅黑"/>
              </a:rPr>
              <a:t>方法:基线复现(pytest/评测/验收全绿)→ 全量代码审查 → 对照实验驱动修复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55648"/>
            <a:ext cx="717804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93391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3B5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检索正确性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865376"/>
            <a:ext cx="5440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F1 RRF 误用常数权重(非标准公式)· F2 引用卡片 vec_rank 伪造失真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70048"/>
            <a:ext cx="717804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1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D94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安全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779776"/>
            <a:ext cx="5440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F3 前端三处未转义(存储型 XSS)· F4 写接口无鉴权 · F5 令牌桶无界增长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84448"/>
            <a:ext cx="717804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3822191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性能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694176"/>
            <a:ext cx="5440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F6 BM25 全量扫描 → 倒排索引(10×/35×,与原算法逐位等价)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98848"/>
            <a:ext cx="717804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473659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94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健壮性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608576"/>
            <a:ext cx="5440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F7 云端降级静默吞异常 · F8 知识删除在文件锁外读写(竞态)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413248"/>
            <a:ext cx="717804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565099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评测口径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22976"/>
            <a:ext cx="5440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F9 bench 误测重排路径却宣称默认链路,吞吐被低估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82127" y="1755648"/>
            <a:ext cx="3849624" cy="4480560"/>
          </a:xfrm>
          <a:prstGeom prst="roundRect">
            <a:avLst>
              <a:gd name="adj" fmla="val 5500"/>
            </a:avLst>
          </a:prstGeom>
          <a:solidFill>
            <a:srgbClr val="1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9751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修复后的全量回归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487168"/>
            <a:ext cx="3383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 i="0">
                <a:solidFill>
                  <a:srgbClr val="8FA6FF"/>
                </a:solidFill>
                <a:latin typeface="微软雅黑"/>
                <a:ea typeface="微软雅黑"/>
              </a:rPr>
              <a:t>9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8B0C6"/>
                </a:solidFill>
                <a:latin typeface="微软雅黑"/>
                <a:ea typeface="微软雅黑"/>
              </a:rPr>
              <a:t>项缺陷修复(报告 F1–F9,证据链完整)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419856"/>
            <a:ext cx="3383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 i="0">
                <a:solidFill>
                  <a:srgbClr val="8FA6FF"/>
                </a:solidFill>
                <a:latin typeface="微软雅黑"/>
                <a:ea typeface="微软雅黑"/>
              </a:rPr>
              <a:t>13/13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8B0C6"/>
                </a:solidFill>
                <a:latin typeface="微软雅黑"/>
                <a:ea typeface="微软雅黑"/>
              </a:rPr>
              <a:t>单元测试通过(新增 9 项回归测试)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352544"/>
            <a:ext cx="3383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 i="0">
                <a:solidFill>
                  <a:srgbClr val="8FA6FF"/>
                </a:solidFill>
                <a:latin typeface="微软雅黑"/>
                <a:ea typeface="微软雅黑"/>
              </a:rPr>
              <a:t>4/4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8B0C6"/>
                </a:solidFill>
                <a:latin typeface="微软雅黑"/>
                <a:ea typeface="微软雅黑"/>
              </a:rPr>
              <a:t>架构验收复测 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285231"/>
            <a:ext cx="3383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500" b="1" i="0">
                <a:solidFill>
                  <a:srgbClr val="8FA6FF"/>
                </a:solidFill>
                <a:latin typeface="微软雅黑"/>
                <a:ea typeface="微软雅黑"/>
              </a:rPr>
              <a:t>0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8B0C6"/>
                </a:solidFill>
                <a:latin typeface="微软雅黑"/>
                <a:ea typeface="微软雅黑"/>
              </a:rPr>
              <a:t>指标回退(评测矩阵 Hit@1/Hit@3 持平)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5BFD"/>
                </a:solidFill>
                <a:latin typeface="微软雅黑"/>
                <a:ea typeface="微软雅黑"/>
              </a:rPr>
              <a:t>完善轮深挖 ·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C2333"/>
                </a:solidFill>
                <a:latin typeface="微软雅黑"/>
                <a:ea typeface="微软雅黑"/>
              </a:rPr>
              <a:t>名为 RRF,实为通道计数:一个被语料掩盖的公式错误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智问校园 CampusMind · AI + RAG 校园智能问答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13 ·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81328"/>
            <a:ext cx="5486400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27632"/>
            <a:ext cx="50292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D94F3D"/>
                </a:solidFill>
                <a:latin typeface="微软雅黑"/>
                <a:ea typeface="微软雅黑"/>
              </a:rPr>
              <a:t>修复前(错误)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333"/>
                </a:solidFill>
                <a:latin typeface="微软雅黑"/>
                <a:ea typeface="微软雅黑"/>
              </a:rPr>
              <a:t>score(d) = Σ_channel  1/(K+1)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常数权重,与排名无关 → 等价于「通道计数投票」,排名 1 与排名 20 贡献相同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481328"/>
            <a:ext cx="5486400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1384" y="1627632"/>
            <a:ext cx="50292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E9A57"/>
                </a:solidFill>
                <a:latin typeface="微软雅黑"/>
                <a:ea typeface="微软雅黑"/>
              </a:rPr>
              <a:t>修复后(标准 RRF)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2333"/>
                </a:solidFill>
                <a:latin typeface="微软雅黑"/>
                <a:ea typeface="微软雅黑"/>
              </a:rPr>
              <a:t>score(d) = Σ_channel  1/(K + rank)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对每通道真实排名累加 —— 文档注释与架构文档宣称的行为,至此实现与设计一致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C2333"/>
                </a:solidFill>
                <a:latin typeface="微软雅黑"/>
                <a:ea typeface="微软雅黑"/>
              </a:rPr>
              <a:t>62 条评测复测(Hit@1 / Hit@3):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29584"/>
            <a:ext cx="11274552" cy="658368"/>
          </a:xfrm>
          <a:prstGeom prst="roundRect">
            <a:avLst>
              <a:gd name="adj" fmla="val 55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593591"/>
            <a:ext cx="31089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C2333"/>
                </a:solidFill>
                <a:latin typeface="微软雅黑"/>
                <a:ea typeface="微软雅黑"/>
              </a:rPr>
              <a:t>混合+RRF(生产)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593591"/>
            <a:ext cx="3566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2333"/>
                </a:solidFill>
                <a:latin typeface="微软雅黑"/>
                <a:ea typeface="微软雅黑"/>
              </a:rPr>
              <a:t>80.6 / 98.4 持平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593591"/>
            <a:ext cx="3840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0.884 → 0.882(一名次内波动)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97680"/>
            <a:ext cx="11274552" cy="658368"/>
          </a:xfrm>
          <a:prstGeom prst="roundRect">
            <a:avLst>
              <a:gd name="adj" fmla="val 5500"/>
            </a:avLst>
          </a:prstGeom>
          <a:solidFill>
            <a:srgbClr val="E7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361688"/>
            <a:ext cx="31089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C2333"/>
                </a:solidFill>
                <a:latin typeface="微软雅黑"/>
                <a:ea typeface="微软雅黑"/>
              </a:rPr>
              <a:t>混合+重排(实验)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361688"/>
            <a:ext cx="3566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9A57"/>
                </a:solidFill>
                <a:latin typeface="微软雅黑"/>
                <a:ea typeface="微软雅黑"/>
              </a:rPr>
              <a:t>74.2 / 90.3 → 77.4 / 96.8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361688"/>
            <a:ext cx="3840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+3.2pp / +6.5pp(先验变连续信号)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047488"/>
            <a:ext cx="11274552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193792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3B5BFD"/>
                </a:solidFill>
                <a:latin typeface="微软雅黑"/>
                <a:ea typeface="微软雅黑"/>
              </a:rPr>
              <a:t>为什么在演示环境「测不出来」,仍然必须修?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TF-IDF 演示语料双通道高度相关(都是词面匹配),两版指标恰好持平,错误被掩盖;接入真语义向量后双通道分歧显著增大,常数版会系统性偏好「双通道都命中但排名靠后」的文档——标准公式才是正确行为,这是面向未来语义通道的修正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5BFD"/>
                </a:solidFill>
                <a:latin typeface="微软雅黑"/>
                <a:ea typeface="微软雅黑"/>
              </a:rPr>
              <a:t>完善轮深挖 · F6 / F9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C2333"/>
                </a:solidFill>
                <a:latin typeface="微软雅黑"/>
                <a:ea typeface="微软雅黑"/>
              </a:rPr>
              <a:t>倒排索引 10–35 倍加速,与一次基准口径纠偏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智问校园 CampusMind · AI + RAG 校园智能问答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14 · 17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517904"/>
          <a:ext cx="603504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57784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BM25 通道 QPS(同进程 A/B,三轮取最好)· 结果与原暴力算法逐查询逐位等价(单元测试校验)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517904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10.0 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3969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当前语料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517904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12B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35 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13969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A6478"/>
                </a:solidFill>
                <a:latin typeface="微软雅黑"/>
                <a:ea typeface="微软雅黑"/>
              </a:rPr>
              <a:t>20× 语料扩展性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2615184"/>
            <a:ext cx="4974336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4304" y="279806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B5BFD"/>
                </a:solidFill>
                <a:latin typeface="微软雅黑"/>
                <a:ea typeface="微软雅黑"/>
              </a:rPr>
              <a:t>F9 · 基准口径纠偏(如实)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4304" y="3218688"/>
            <a:ext cx="45262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发现:bench.py 调用 retrieve() 未传 rerank,默认走了重排实验路径——测的与宣称的「默认链路」不是同一条。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影响:2026-09-18 的 251.4 QPS 实为重排路径数值,生产 RRF 链路吞吐被低估。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修正:跟随 RERANK_ENABLED 并在输出标注实际链路;修正后实测 515.8–880.4 QPS / p50 1.1–1.9ms,历史值保留并注明口径。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5BFD"/>
                </a:solidFill>
                <a:latin typeface="微软雅黑"/>
                <a:ea typeface="微软雅黑"/>
              </a:rPr>
              <a:t>工程方法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C2333"/>
                </a:solidFill>
                <a:latin typeface="微软雅黑"/>
                <a:ea typeface="微软雅黑"/>
              </a:rPr>
              <a:t>评测驱动 · 如实原则:数字怎么来,就怎么写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智问校园 CampusMind · AI + RAG 校园智能问答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15 ·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17904"/>
            <a:ext cx="5486400" cy="21214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55648"/>
            <a:ext cx="512064" cy="512064"/>
          </a:xfrm>
          <a:prstGeom prst="ellipse">
            <a:avLst/>
          </a:prstGeom>
          <a:solidFill>
            <a:srgbClr val="3B5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7393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C2333"/>
                </a:solidFill>
                <a:latin typeface="微软雅黑"/>
                <a:ea typeface="微软雅黑"/>
              </a:rPr>
              <a:t>评测驱动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22576"/>
            <a:ext cx="4983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62 条口语化改写评测集是第一工具:停用词 bug、候选池截断、文档级去重缺失……三个真实缺陷均由评测指标异常暴露,再定位修复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517904"/>
            <a:ext cx="5486400" cy="21214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01384" y="1755648"/>
            <a:ext cx="512064" cy="512064"/>
          </a:xfrm>
          <a:prstGeom prst="ellipse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177393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C2333"/>
                </a:solidFill>
                <a:latin typeface="微软雅黑"/>
                <a:ea typeface="微软雅黑"/>
              </a:rPr>
              <a:t>如实原则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322576"/>
            <a:ext cx="4983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TF-IDF 非语义嵌入主动声明;指标口径演变全程留痕(旧值 95.2 → 98.4 并存);商业定价标注「假设示例」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22191"/>
            <a:ext cx="5486400" cy="21214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4059935"/>
            <a:ext cx="512064" cy="512064"/>
          </a:xfrm>
          <a:prstGeom prst="ellipse">
            <a:avLst/>
          </a:prstGeom>
          <a:solidFill>
            <a:srgbClr val="0E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07822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C2333"/>
                </a:solidFill>
                <a:latin typeface="微软雅黑"/>
                <a:ea typeface="微软雅黑"/>
              </a:rPr>
              <a:t>追踪矩阵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26864"/>
            <a:ext cx="4983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需求 → 质量属性 → ADR → 模块 → 测试 → 证据 六级串联,完善轮 9 项修复同样入矩阵(traceability.md §六)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3822191"/>
            <a:ext cx="5486400" cy="21214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01384" y="4059935"/>
            <a:ext cx="512064" cy="512064"/>
          </a:xfrm>
          <a:prstGeom prst="ellipse">
            <a:avLst/>
          </a:prstGeom>
          <a:solidFill>
            <a:srgbClr val="94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407822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C2333"/>
                </a:solidFill>
                <a:latin typeface="微软雅黑"/>
                <a:ea typeface="微软雅黑"/>
              </a:rPr>
              <a:t>全量可复现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626864"/>
            <a:ext cx="4983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478"/>
                </a:solidFill>
                <a:latin typeface="微软雅黑"/>
                <a:ea typeface="微软雅黑"/>
              </a:rPr>
              <a:t>一条命令复现全部指标:pytest 13 项 / eval_matrix 四路 / bench 拆分 / acceptance 四项,环境与口径写入复现指南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B5BFD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C2333"/>
                </a:solidFill>
                <a:latin typeface="微软雅黑"/>
                <a:ea typeface="微软雅黑"/>
              </a:rPr>
              <a:t>交付了什么,下一步去哪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智问校园 CampusMind · AI + RAG 校园智能问答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510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8A93A8"/>
                </a:solidFill>
                <a:latin typeface="微软雅黑"/>
                <a:ea typeface="微软雅黑"/>
              </a:rPr>
              <a:t>16 ·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81328"/>
            <a:ext cx="5486400" cy="4498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078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3B5BFD"/>
                </a:solidFill>
                <a:latin typeface="微软雅黑"/>
                <a:ea typeface="微软雅黑"/>
              </a:rPr>
              <a:t>已交付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4937760" cy="841248"/>
          </a:xfrm>
          <a:prstGeom prst="roundRect">
            <a:avLst>
              <a:gd name="adj" fmla="val 55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86000"/>
            <a:ext cx="455371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2333"/>
                </a:solidFill>
                <a:latin typeface="微软雅黑"/>
                <a:ea typeface="微软雅黑"/>
              </a:rPr>
              <a:t>可运行的 AI+RAG 系统:双通道检索 / 流式生成 / 引用溯源 / 知识热更新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27248"/>
            <a:ext cx="4937760" cy="841248"/>
          </a:xfrm>
          <a:prstGeom prst="roundRect">
            <a:avLst>
              <a:gd name="adj" fmla="val 55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218688"/>
            <a:ext cx="455371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2333"/>
                </a:solidFill>
                <a:latin typeface="微软雅黑"/>
                <a:ea typeface="微软雅黑"/>
              </a:rPr>
              <a:t>质量闭环:62 条评测 + 四项架构验收 + 性能基准,全绿且可复现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59935"/>
            <a:ext cx="4937760" cy="841248"/>
          </a:xfrm>
          <a:prstGeom prst="roundRect">
            <a:avLst>
              <a:gd name="adj" fmla="val 55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151375"/>
            <a:ext cx="455371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2333"/>
                </a:solidFill>
                <a:latin typeface="微软雅黑"/>
                <a:ea typeface="微软雅黑"/>
              </a:rPr>
              <a:t>文档交付物:22 页架构设计文档(含追踪矩阵)+ 经济适用型与运营方案 + 答辩 PPT 与讲解视频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92623"/>
            <a:ext cx="4937760" cy="841248"/>
          </a:xfrm>
          <a:prstGeom prst="roundRect">
            <a:avLst>
              <a:gd name="adj" fmla="val 5500"/>
            </a:avLst>
          </a:prstGeom>
          <a:solidFill>
            <a:srgbClr val="EE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084063"/>
            <a:ext cx="455371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2333"/>
                </a:solidFill>
                <a:latin typeface="微软雅黑"/>
                <a:ea typeface="微软雅黑"/>
              </a:rPr>
              <a:t>完善轮加固:9 项缺陷修复,安全、性能、口径三面收口(github.com/yelikour/campus-qa)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481328"/>
            <a:ext cx="5486400" cy="4498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5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70078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7C4DFF"/>
                </a:solidFill>
                <a:latin typeface="微软雅黑"/>
                <a:ea typeface="微软雅黑"/>
              </a:rPr>
              <a:t>下一步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9672" y="226771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 i="0">
                <a:solidFill>
                  <a:srgbClr val="7C4DFF"/>
                </a:solidFill>
                <a:latin typeface="微软雅黑"/>
                <a:ea typeface="微软雅黑"/>
              </a:rPr>
              <a:t>Cross-Encoder 重排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32004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A6478"/>
                </a:solidFill>
                <a:latin typeface="微软雅黑"/>
                <a:ea typeface="微软雅黑"/>
              </a:rPr>
              <a:t>轻量词面重排实测无收益已默认关闭;替换 bge-reranker 后重开评测,验证排序增益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9672" y="32004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 i="0">
                <a:solidFill>
                  <a:srgbClr val="7C4DFF"/>
                </a:solidFill>
                <a:latin typeface="微软雅黑"/>
                <a:ea typeface="微软雅黑"/>
              </a:rPr>
              <a:t>真语义向量评测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127248"/>
            <a:ext cx="32004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A6478"/>
                </a:solidFill>
                <a:latin typeface="微软雅黑"/>
                <a:ea typeface="微软雅黑"/>
              </a:rPr>
              <a:t>配置 ZHIPUAI_API_KEY 后补测 embedding-3 四路指标——F1 的标准 RRF 正是为该场景修正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9672" y="4133087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 i="0">
                <a:solidFill>
                  <a:srgbClr val="7C4DFF"/>
                </a:solidFill>
                <a:latin typeface="微软雅黑"/>
                <a:ea typeface="微软雅黑"/>
              </a:rPr>
              <a:t>生产化部署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059935"/>
            <a:ext cx="32004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A6478"/>
                </a:solidFill>
                <a:latin typeface="微软雅黑"/>
                <a:ea typeface="微软雅黑"/>
              </a:rPr>
              <a:t>Nginx 反代(SSE 直通)· Redis 滑动窗口限流 · ADMIN_TOKEN 启用写接口鉴权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19672" y="5065775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0E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 i="0">
                <a:solidFill>
                  <a:srgbClr val="7C4DFF"/>
                </a:solidFill>
                <a:latin typeface="微软雅黑"/>
                <a:ea typeface="微软雅黑"/>
              </a:rPr>
              <a:t>容量与成本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992623"/>
            <a:ext cx="32004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A6478"/>
                </a:solidFill>
                <a:latin typeface="微软雅黑"/>
                <a:ea typeface="微软雅黑"/>
              </a:rPr>
              <a:t>按运营方案扩展三级:uvicorn workers → 多实例 → 限流外置,扩容单位约 ¥30/月/台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谢谢观看 · 欢迎提问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8FA6FF"/>
                </a:solidFill>
                <a:latin typeface="微软雅黑"/>
                <a:ea typeface="微软雅黑"/>
              </a:rPr>
              <a:t>所有数字可复现 · 所有缺陷有编号 · 所有结论留证据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4114800"/>
            <a:ext cx="1828800" cy="1005840"/>
          </a:xfrm>
          <a:prstGeom prst="roundRect">
            <a:avLst>
              <a:gd name="adj" fmla="val 5500"/>
            </a:avLst>
          </a:prstGeom>
          <a:solidFill>
            <a:srgbClr val="27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4261104"/>
            <a:ext cx="1645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8FA6FF"/>
                </a:solidFill>
                <a:latin typeface="微软雅黑"/>
                <a:ea typeface="微软雅黑"/>
              </a:rPr>
              <a:t>62 条</a:t>
            </a:r>
          </a:p>
          <a:p>
            <a:pPr algn="ctr"/>
            <a:r>
              <a:rPr sz="1150" b="0" i="0">
                <a:solidFill>
                  <a:srgbClr val="A8B0C6"/>
                </a:solidFill>
                <a:latin typeface="微软雅黑"/>
                <a:ea typeface="微软雅黑"/>
              </a:rPr>
              <a:t>口语化评测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4114800"/>
            <a:ext cx="1828800" cy="1005840"/>
          </a:xfrm>
          <a:prstGeom prst="roundRect">
            <a:avLst>
              <a:gd name="adj" fmla="val 5500"/>
            </a:avLst>
          </a:prstGeom>
          <a:solidFill>
            <a:srgbClr val="27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4261104"/>
            <a:ext cx="1645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8FA6FF"/>
                </a:solidFill>
                <a:latin typeface="微软雅黑"/>
                <a:ea typeface="微软雅黑"/>
              </a:rPr>
              <a:t>80.6%</a:t>
            </a:r>
          </a:p>
          <a:p>
            <a:pPr algn="ctr"/>
            <a:r>
              <a:rPr sz="1150" b="0" i="0">
                <a:solidFill>
                  <a:srgbClr val="A8B0C6"/>
                </a:solidFill>
                <a:latin typeface="微软雅黑"/>
                <a:ea typeface="微软雅黑"/>
              </a:rPr>
              <a:t>Hit@1 · BM25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4114800"/>
            <a:ext cx="1828800" cy="1005840"/>
          </a:xfrm>
          <a:prstGeom prst="roundRect">
            <a:avLst>
              <a:gd name="adj" fmla="val 5500"/>
            </a:avLst>
          </a:prstGeom>
          <a:solidFill>
            <a:srgbClr val="27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4261104"/>
            <a:ext cx="1645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8FA6FF"/>
                </a:solidFill>
                <a:latin typeface="微软雅黑"/>
                <a:ea typeface="微软雅黑"/>
              </a:rPr>
              <a:t>880 QPS</a:t>
            </a:r>
          </a:p>
          <a:p>
            <a:pPr algn="ctr"/>
            <a:r>
              <a:rPr sz="1150" b="0" i="0">
                <a:solidFill>
                  <a:srgbClr val="A8B0C6"/>
                </a:solidFill>
                <a:latin typeface="微软雅黑"/>
                <a:ea typeface="微软雅黑"/>
              </a:rPr>
              <a:t>检索吞吐峰值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4114800"/>
            <a:ext cx="1828800" cy="1005840"/>
          </a:xfrm>
          <a:prstGeom prst="roundRect">
            <a:avLst>
              <a:gd name="adj" fmla="val 5500"/>
            </a:avLst>
          </a:prstGeom>
          <a:solidFill>
            <a:srgbClr val="27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4261104"/>
            <a:ext cx="1645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8FA6FF"/>
                </a:solidFill>
                <a:latin typeface="微软雅黑"/>
                <a:ea typeface="微软雅黑"/>
              </a:rPr>
              <a:t>4 / 4</a:t>
            </a:r>
          </a:p>
          <a:p>
            <a:pPr algn="ctr"/>
            <a:r>
              <a:rPr sz="1150" b="0" i="0">
                <a:solidFill>
                  <a:srgbClr val="A8B0C6"/>
                </a:solidFill>
                <a:latin typeface="微软雅黑"/>
                <a:ea typeface="微软雅黑"/>
              </a:rPr>
              <a:t>架构验收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4114800"/>
            <a:ext cx="1828800" cy="1005840"/>
          </a:xfrm>
          <a:prstGeom prst="roundRect">
            <a:avLst>
              <a:gd name="adj" fmla="val 5500"/>
            </a:avLst>
          </a:prstGeom>
          <a:solidFill>
            <a:srgbClr val="27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4261104"/>
            <a:ext cx="1645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8FA6FF"/>
                </a:solidFill>
                <a:latin typeface="微软雅黑"/>
                <a:ea typeface="微软雅黑"/>
              </a:rPr>
              <a:t>9 项</a:t>
            </a:r>
          </a:p>
          <a:p>
            <a:pPr algn="ctr"/>
            <a:r>
              <a:rPr sz="1150" b="0" i="0">
                <a:solidFill>
                  <a:srgbClr val="A8B0C6"/>
                </a:solidFill>
                <a:latin typeface="微软雅黑"/>
                <a:ea typeface="微软雅黑"/>
              </a:rPr>
              <a:t>完善轮修复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A8B0C6"/>
                </a:solidFill>
                <a:latin typeface="微软雅黑"/>
                <a:ea typeface="微软雅黑"/>
              </a:rPr>
              <a:t>github.com/yelikour/campus-qa · 智问校园 CampusMind · 《软件体系结构》课程项目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